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867" autoAdjust="0"/>
  </p:normalViewPr>
  <p:slideViewPr>
    <p:cSldViewPr snapToGrid="0">
      <p:cViewPr varScale="1">
        <p:scale>
          <a:sx n="124" d="100"/>
          <a:sy n="124" d="100"/>
        </p:scale>
        <p:origin x="122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B2: “Upon the launch of your browser software, the main screen of the browser shall appear. The main screen shall consist of a main menu bar, a navigational toolbar, a text field for URL entry, and an area for display of results. We will call the latter "html display zone". While all other parts of the browser main screen are "fixed", the html display zone implementation is left to you.”</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37990e952e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37990e952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40ed274e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40ed274e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B5: “The "File" pull-down (drop-down) menu shall contain at least the following options: "Open", "Close" and "Exit". Other options, such as "Save" may also be present.”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40ed274e0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40ed274e0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40ed274e0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40ed274e0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B7: “The toolbar shall be located on the left side of the browser screen directly under the menu bar. It shall contain buttons for at least the following actions: "Back", "Forward", "Home" and "Reload".  Buttons for other actions may also be present. If possible, render simple arrow and home icons on the appropriate toolbar buttons. If not, use appropriate text. (e.g, the "Back" button can contain text "Back" or a simple text rendering of an arrow: "&lt;--".)”</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40ed274e0f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40ed274e0f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0ed274e0f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40ed274e0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B11: “At each moment of time the browser can display one Simple HTML page, which we call current, or it can display no Simple HTML page, in which case we say the the browser has no current page.”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40ed274e0f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40ed274e0f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40ed274e0f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40ed274e0f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B12: “"File --&gt; Open" menu option. When this option is selected, your browser shall produce a simple pop-up dialog window which shall consist of at least a text field, an "OK" and a "Cancel" button and some text prompting the user to enter the URL of the document (s)he wants to open into the text field. When "OK" button is pressed, the dialog window shall close, and the contents of the text field shall be remembered. These contents shall be copied into the address field of the main browser window, and the browser software shall attempt to download the resource specified in the contents. If "Cancel" button is pressed, the pop-up window shall close and no further action with respect the "Open" command shall be taken.”</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40ed274e0f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40ed274e0f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4121a89b9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4121a89b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B15: “"Help --&gt; About". When this option is selected, the software shall open a pop-up window containing basic description of your browser. The text must contain the name of the programmer, a mention that this program is a homework assignment for CS 585, the date of the browser's release and the version number (you are welcome to use any versioning scheme you want), and any other information you deem useful.”</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4121a89b9e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4121a89b9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4121a89b9e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4121a89b9e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B16: “"Toolbar --&gt; Back Button". Your browser must maintain a two-way stack of all pages that were current during the lifetime of the run of the browser. A click on the "Back" button shall result in changing the current page to the previous current page from the stack. If there is no previous page, "Back" button shall either be disabled (but visible), or clicking it shall yield in no action.”</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4121a89b9e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4121a89b9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4121a89b9e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4121a89b9e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4121a89b9e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4121a89b9e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B19: “"Toolbar ---&gt; Reload". When this button is pressed, current page must be downloaded again from its location. There is no change to the "back" and "forward" stacks.”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4121a89b9e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4121a89b9e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41acc5bc2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41acc5bc2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B20: “When the "Enter" key is pressed while the browser focus (cursor) is in the address field, the software shall perform the following actions. The text currently entered into the field shall be retrieved and analyzed. If the text forms a correct URL, the document represented by this URL shall be downloaded and shall become current. If the text does not form a correct URL, current document shall be pused into the "back" stack, the browser shall have no current document, and an error message shall be displayed in the html display zone. Pushing "Back" button in this state shall return back the last current page. The same URL check and the same behavior shall also be applicable to opening a document via "File ---&gt; Open" option.”</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41acc5bc2e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41acc5bc2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41acc5bc2e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41acc5bc2e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4171d6aa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4171d6aa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B23: “Part of the correct rendering of a Simple HTML document (see R21) is rendering and software support for the anchor elements. The anchor elements shall be rendered in a manner that is in contrast with the non-anchor content.  When a mouse button is clicked on top of the anchor element content, the browser shall push current page into the "Back" stack, check if the url from the "href" attribute of the clicked anchor is the same as the top of the "forward" stack and attempt to download the document. If successful the new document shall become the current document. If the top url from the "forward" stack matched the anchor url, the "forward" stack shall be popped. If it does not match, the "forward" stack shall be cleared.”</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41acc5bc2e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41acc5bc2e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41acc5bc2e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341acc5bc2e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3185050" y="482950"/>
            <a:ext cx="2148900" cy="657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Launching Browser</a:t>
            </a:r>
            <a:endParaRPr/>
          </a:p>
        </p:txBody>
      </p:sp>
      <p:cxnSp>
        <p:nvCxnSpPr>
          <p:cNvPr id="55" name="Google Shape;55;p13"/>
          <p:cNvCxnSpPr>
            <a:endCxn id="54" idx="7"/>
          </p:cNvCxnSpPr>
          <p:nvPr/>
        </p:nvCxnSpPr>
        <p:spPr>
          <a:xfrm flipH="1">
            <a:off x="5019251" y="362309"/>
            <a:ext cx="343200" cy="216900"/>
          </a:xfrm>
          <a:prstGeom prst="straightConnector1">
            <a:avLst/>
          </a:prstGeom>
          <a:noFill/>
          <a:ln w="9525" cap="flat" cmpd="sng">
            <a:solidFill>
              <a:srgbClr val="000000"/>
            </a:solidFill>
            <a:prstDash val="solid"/>
            <a:round/>
            <a:headEnd type="none" w="med" len="med"/>
            <a:tailEnd type="triangle" w="med" len="med"/>
          </a:ln>
        </p:spPr>
      </p:cxnSp>
      <p:sp>
        <p:nvSpPr>
          <p:cNvPr id="56" name="Google Shape;56;p13"/>
          <p:cNvSpPr txBox="1"/>
          <p:nvPr/>
        </p:nvSpPr>
        <p:spPr>
          <a:xfrm>
            <a:off x="3993095" y="1144574"/>
            <a:ext cx="1716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display</a:t>
            </a:r>
            <a:endParaRPr i="1">
              <a:solidFill>
                <a:srgbClr val="000000"/>
              </a:solidFill>
            </a:endParaRPr>
          </a:p>
        </p:txBody>
      </p:sp>
      <p:sp>
        <p:nvSpPr>
          <p:cNvPr id="57" name="Google Shape;57;p13"/>
          <p:cNvSpPr/>
          <p:nvPr/>
        </p:nvSpPr>
        <p:spPr>
          <a:xfrm>
            <a:off x="3585018" y="1530663"/>
            <a:ext cx="14325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cxnSp>
        <p:nvCxnSpPr>
          <p:cNvPr id="58" name="Google Shape;58;p13"/>
          <p:cNvCxnSpPr>
            <a:stCxn id="59" idx="2"/>
            <a:endCxn id="57" idx="0"/>
          </p:cNvCxnSpPr>
          <p:nvPr/>
        </p:nvCxnSpPr>
        <p:spPr>
          <a:xfrm flipH="1">
            <a:off x="4301268" y="1157463"/>
            <a:ext cx="1200" cy="373200"/>
          </a:xfrm>
          <a:prstGeom prst="straightConnector1">
            <a:avLst/>
          </a:prstGeom>
          <a:noFill/>
          <a:ln w="9525" cap="flat" cmpd="sng">
            <a:solidFill>
              <a:schemeClr val="dk1"/>
            </a:solidFill>
            <a:prstDash val="solid"/>
            <a:round/>
            <a:headEnd type="none" w="med" len="med"/>
            <a:tailEnd type="triangle" w="med" len="med"/>
          </a:ln>
        </p:spPr>
      </p:cxnSp>
      <p:sp>
        <p:nvSpPr>
          <p:cNvPr id="60" name="Google Shape;60;p13"/>
          <p:cNvSpPr/>
          <p:nvPr/>
        </p:nvSpPr>
        <p:spPr>
          <a:xfrm>
            <a:off x="646475" y="4111775"/>
            <a:ext cx="14325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Main Menu Bar</a:t>
            </a:r>
            <a:endParaRPr/>
          </a:p>
        </p:txBody>
      </p:sp>
      <p:sp>
        <p:nvSpPr>
          <p:cNvPr id="61" name="Google Shape;61;p13"/>
          <p:cNvSpPr/>
          <p:nvPr/>
        </p:nvSpPr>
        <p:spPr>
          <a:xfrm>
            <a:off x="2332541" y="4111775"/>
            <a:ext cx="17163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Navigational Toolbar</a:t>
            </a:r>
            <a:endParaRPr/>
          </a:p>
        </p:txBody>
      </p:sp>
      <p:sp>
        <p:nvSpPr>
          <p:cNvPr id="62" name="Google Shape;62;p13"/>
          <p:cNvSpPr/>
          <p:nvPr/>
        </p:nvSpPr>
        <p:spPr>
          <a:xfrm>
            <a:off x="4249375" y="4111775"/>
            <a:ext cx="17163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Text Field for URL Entry</a:t>
            </a:r>
            <a:endParaRPr/>
          </a:p>
        </p:txBody>
      </p:sp>
      <p:sp>
        <p:nvSpPr>
          <p:cNvPr id="63" name="Google Shape;63;p13"/>
          <p:cNvSpPr/>
          <p:nvPr/>
        </p:nvSpPr>
        <p:spPr>
          <a:xfrm>
            <a:off x="6179975" y="4111775"/>
            <a:ext cx="18981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HTML Display Zone</a:t>
            </a:r>
            <a:endParaRPr/>
          </a:p>
        </p:txBody>
      </p:sp>
      <p:sp>
        <p:nvSpPr>
          <p:cNvPr id="64" name="Google Shape;64;p13"/>
          <p:cNvSpPr txBox="1"/>
          <p:nvPr/>
        </p:nvSpPr>
        <p:spPr>
          <a:xfrm>
            <a:off x="231700" y="243275"/>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B2</a:t>
            </a:r>
            <a:endParaRPr sz="1800" b="1">
              <a:solidFill>
                <a:srgbClr val="0000FF"/>
              </a:solidFill>
              <a:latin typeface="Comic Sans MS"/>
              <a:ea typeface="Comic Sans MS"/>
              <a:cs typeface="Comic Sans MS"/>
              <a:sym typeface="Comic Sans MS"/>
            </a:endParaRPr>
          </a:p>
        </p:txBody>
      </p:sp>
      <p:sp>
        <p:nvSpPr>
          <p:cNvPr id="65" name="Google Shape;65;p13"/>
          <p:cNvSpPr/>
          <p:nvPr/>
        </p:nvSpPr>
        <p:spPr>
          <a:xfrm>
            <a:off x="2475275" y="2587775"/>
            <a:ext cx="14325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Fixed</a:t>
            </a:r>
            <a:endParaRPr/>
          </a:p>
        </p:txBody>
      </p:sp>
      <p:sp>
        <p:nvSpPr>
          <p:cNvPr id="66" name="Google Shape;66;p13"/>
          <p:cNvSpPr/>
          <p:nvPr/>
        </p:nvSpPr>
        <p:spPr>
          <a:xfrm>
            <a:off x="5142275" y="2587775"/>
            <a:ext cx="17163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To Be Implemented</a:t>
            </a:r>
            <a:endParaRPr/>
          </a:p>
        </p:txBody>
      </p:sp>
      <p:sp>
        <p:nvSpPr>
          <p:cNvPr id="67" name="Google Shape;67;p13"/>
          <p:cNvSpPr/>
          <p:nvPr/>
        </p:nvSpPr>
        <p:spPr>
          <a:xfrm>
            <a:off x="4198466" y="1638309"/>
            <a:ext cx="208500" cy="301200"/>
          </a:xfrm>
          <a:prstGeom prst="diamond">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68" name="Google Shape;68;p13"/>
          <p:cNvCxnSpPr/>
          <p:nvPr/>
        </p:nvCxnSpPr>
        <p:spPr>
          <a:xfrm>
            <a:off x="3173347" y="2260775"/>
            <a:ext cx="2834700" cy="11700"/>
          </a:xfrm>
          <a:prstGeom prst="straightConnector1">
            <a:avLst/>
          </a:prstGeom>
          <a:noFill/>
          <a:ln w="9525" cap="flat" cmpd="sng">
            <a:solidFill>
              <a:schemeClr val="dk1"/>
            </a:solidFill>
            <a:prstDash val="solid"/>
            <a:round/>
            <a:headEnd type="none" w="med" len="med"/>
            <a:tailEnd type="none" w="med" len="med"/>
          </a:ln>
        </p:spPr>
      </p:cxnSp>
      <p:cxnSp>
        <p:nvCxnSpPr>
          <p:cNvPr id="69" name="Google Shape;69;p13"/>
          <p:cNvCxnSpPr/>
          <p:nvPr/>
        </p:nvCxnSpPr>
        <p:spPr>
          <a:xfrm rot="10800000" flipH="1">
            <a:off x="3179135" y="224937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70" name="Google Shape;70;p13"/>
          <p:cNvCxnSpPr/>
          <p:nvPr/>
        </p:nvCxnSpPr>
        <p:spPr>
          <a:xfrm rot="10800000" flipH="1">
            <a:off x="5998535" y="226176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71" name="Google Shape;71;p13"/>
          <p:cNvCxnSpPr/>
          <p:nvPr/>
        </p:nvCxnSpPr>
        <p:spPr>
          <a:xfrm rot="10800000" flipH="1">
            <a:off x="1337945" y="377337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72" name="Google Shape;72;p13"/>
          <p:cNvCxnSpPr/>
          <p:nvPr/>
        </p:nvCxnSpPr>
        <p:spPr>
          <a:xfrm rot="10800000" flipH="1">
            <a:off x="5084135" y="377337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73" name="Google Shape;73;p13"/>
          <p:cNvCxnSpPr>
            <a:stCxn id="61" idx="0"/>
            <a:endCxn id="65" idx="4"/>
          </p:cNvCxnSpPr>
          <p:nvPr/>
        </p:nvCxnSpPr>
        <p:spPr>
          <a:xfrm rot="10800000" flipH="1">
            <a:off x="3190691" y="3345575"/>
            <a:ext cx="900" cy="766200"/>
          </a:xfrm>
          <a:prstGeom prst="straightConnector1">
            <a:avLst/>
          </a:prstGeom>
          <a:noFill/>
          <a:ln w="9525" cap="flat" cmpd="sng">
            <a:solidFill>
              <a:schemeClr val="dk1"/>
            </a:solidFill>
            <a:prstDash val="solid"/>
            <a:round/>
            <a:headEnd type="none" w="med" len="med"/>
            <a:tailEnd type="none" w="med" len="med"/>
          </a:ln>
        </p:spPr>
      </p:cxnSp>
      <p:cxnSp>
        <p:nvCxnSpPr>
          <p:cNvPr id="74" name="Google Shape;74;p13"/>
          <p:cNvCxnSpPr/>
          <p:nvPr/>
        </p:nvCxnSpPr>
        <p:spPr>
          <a:xfrm>
            <a:off x="1344547" y="3772385"/>
            <a:ext cx="3749100" cy="1170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3"/>
          <p:cNvCxnSpPr>
            <a:stCxn id="66" idx="4"/>
            <a:endCxn id="63" idx="0"/>
          </p:cNvCxnSpPr>
          <p:nvPr/>
        </p:nvCxnSpPr>
        <p:spPr>
          <a:xfrm>
            <a:off x="6000425" y="3345575"/>
            <a:ext cx="1128600" cy="766200"/>
          </a:xfrm>
          <a:prstGeom prst="straightConnector1">
            <a:avLst/>
          </a:prstGeom>
          <a:noFill/>
          <a:ln w="9525" cap="flat" cmpd="sng">
            <a:solidFill>
              <a:schemeClr val="dk1"/>
            </a:solidFill>
            <a:prstDash val="solid"/>
            <a:round/>
            <a:headEnd type="none" w="med" len="med"/>
            <a:tailEnd type="none" w="med" len="med"/>
          </a:ln>
        </p:spPr>
      </p:cxnSp>
      <p:cxnSp>
        <p:nvCxnSpPr>
          <p:cNvPr id="76" name="Google Shape;76;p13"/>
          <p:cNvCxnSpPr/>
          <p:nvPr/>
        </p:nvCxnSpPr>
        <p:spPr>
          <a:xfrm rot="10800000" flipH="1">
            <a:off x="4298966" y="1926297"/>
            <a:ext cx="5700" cy="3384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B2 Notes</a:t>
            </a:r>
            <a:endParaRPr/>
          </a:p>
        </p:txBody>
      </p:sp>
      <p:sp>
        <p:nvSpPr>
          <p:cNvPr id="82" name="Google Shape;8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Clr>
                <a:schemeClr val="dk1"/>
              </a:buClr>
              <a:buSzPts val="1800"/>
              <a:buChar char="●"/>
            </a:pPr>
            <a:r>
              <a:rPr lang="en">
                <a:solidFill>
                  <a:schemeClr val="dk1"/>
                </a:solidFill>
              </a:rPr>
              <a:t>Notations include a COMPOSITION relation (i.e., the dark diamond), and the undirected edges down the bottom (showing hierarchies and compositions).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Sparkles: (1) split; (2) use of “HTML Display Zone” as the name of a node [because the requirement itself defines this term]; (3) compositions.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Logical test cases: (1) Launching Browser → (display) → [showing all FOUR] components; (2) Launching Browser → (display) → [showing all FOUR] components AND making sure that the first three are “fixed” [that is, doing multiple launches, e.g., launching the browser TWICE – one with test case (1) and the other time with test case (2), and making sure the first three component (i.e., Main Menu Bar, Navigational Toolbar, and Text Field for URL Entry) are the SAME in both launches – meaning that they are NOT open to be implemented as “HTML Display Zone”.</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5"/>
          <p:cNvSpPr/>
          <p:nvPr/>
        </p:nvSpPr>
        <p:spPr>
          <a:xfrm>
            <a:off x="3737525" y="981000"/>
            <a:ext cx="1128600" cy="657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“File” Menu</a:t>
            </a:r>
            <a:endParaRPr/>
          </a:p>
        </p:txBody>
      </p:sp>
      <p:cxnSp>
        <p:nvCxnSpPr>
          <p:cNvPr id="88" name="Google Shape;88;p15"/>
          <p:cNvCxnSpPr>
            <a:endCxn id="87" idx="7"/>
          </p:cNvCxnSpPr>
          <p:nvPr/>
        </p:nvCxnSpPr>
        <p:spPr>
          <a:xfrm flipH="1">
            <a:off x="4700845" y="860359"/>
            <a:ext cx="343200" cy="216900"/>
          </a:xfrm>
          <a:prstGeom prst="straightConnector1">
            <a:avLst/>
          </a:prstGeom>
          <a:noFill/>
          <a:ln w="9525" cap="flat" cmpd="sng">
            <a:solidFill>
              <a:srgbClr val="000000"/>
            </a:solidFill>
            <a:prstDash val="solid"/>
            <a:round/>
            <a:headEnd type="none" w="med" len="med"/>
            <a:tailEnd type="triangle" w="med" len="med"/>
          </a:ln>
        </p:spPr>
      </p:cxnSp>
      <p:sp>
        <p:nvSpPr>
          <p:cNvPr id="89" name="Google Shape;89;p15"/>
          <p:cNvSpPr/>
          <p:nvPr/>
        </p:nvSpPr>
        <p:spPr>
          <a:xfrm>
            <a:off x="1971675" y="2587775"/>
            <a:ext cx="9441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Open</a:t>
            </a:r>
            <a:endParaRPr/>
          </a:p>
        </p:txBody>
      </p:sp>
      <p:sp>
        <p:nvSpPr>
          <p:cNvPr id="90" name="Google Shape;90;p15"/>
          <p:cNvSpPr txBox="1"/>
          <p:nvPr/>
        </p:nvSpPr>
        <p:spPr>
          <a:xfrm>
            <a:off x="231700" y="243275"/>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B5</a:t>
            </a:r>
            <a:endParaRPr sz="1800" b="1">
              <a:solidFill>
                <a:srgbClr val="0000FF"/>
              </a:solidFill>
              <a:latin typeface="Comic Sans MS"/>
              <a:ea typeface="Comic Sans MS"/>
              <a:cs typeface="Comic Sans MS"/>
              <a:sym typeface="Comic Sans MS"/>
            </a:endParaRPr>
          </a:p>
        </p:txBody>
      </p:sp>
      <p:sp>
        <p:nvSpPr>
          <p:cNvPr id="91" name="Google Shape;91;p15"/>
          <p:cNvSpPr/>
          <p:nvPr/>
        </p:nvSpPr>
        <p:spPr>
          <a:xfrm>
            <a:off x="3204177" y="2587775"/>
            <a:ext cx="10017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Close</a:t>
            </a:r>
            <a:endParaRPr/>
          </a:p>
        </p:txBody>
      </p:sp>
      <p:sp>
        <p:nvSpPr>
          <p:cNvPr id="92" name="Google Shape;92;p15"/>
          <p:cNvSpPr/>
          <p:nvPr/>
        </p:nvSpPr>
        <p:spPr>
          <a:xfrm>
            <a:off x="5737508" y="2587775"/>
            <a:ext cx="15960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Other(s) (e.g., Save)</a:t>
            </a:r>
            <a:endParaRPr/>
          </a:p>
        </p:txBody>
      </p:sp>
      <p:sp>
        <p:nvSpPr>
          <p:cNvPr id="93" name="Google Shape;93;p15"/>
          <p:cNvSpPr/>
          <p:nvPr/>
        </p:nvSpPr>
        <p:spPr>
          <a:xfrm>
            <a:off x="4198466" y="1638309"/>
            <a:ext cx="208500" cy="301200"/>
          </a:xfrm>
          <a:prstGeom prst="diamond">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94" name="Google Shape;94;p15"/>
          <p:cNvCxnSpPr/>
          <p:nvPr/>
        </p:nvCxnSpPr>
        <p:spPr>
          <a:xfrm>
            <a:off x="2487547" y="2253591"/>
            <a:ext cx="4023300" cy="11700"/>
          </a:xfrm>
          <a:prstGeom prst="straightConnector1">
            <a:avLst/>
          </a:prstGeom>
          <a:noFill/>
          <a:ln w="9525" cap="flat" cmpd="sng">
            <a:solidFill>
              <a:schemeClr val="dk1"/>
            </a:solidFill>
            <a:prstDash val="solid"/>
            <a:round/>
            <a:headEnd type="none" w="med" len="med"/>
            <a:tailEnd type="none" w="med" len="med"/>
          </a:ln>
        </p:spPr>
      </p:cxnSp>
      <p:cxnSp>
        <p:nvCxnSpPr>
          <p:cNvPr id="95" name="Google Shape;95;p15"/>
          <p:cNvCxnSpPr/>
          <p:nvPr/>
        </p:nvCxnSpPr>
        <p:spPr>
          <a:xfrm rot="10800000" flipH="1">
            <a:off x="2486151" y="224937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96" name="Google Shape;96;p15"/>
          <p:cNvCxnSpPr/>
          <p:nvPr/>
        </p:nvCxnSpPr>
        <p:spPr>
          <a:xfrm rot="10800000" flipH="1">
            <a:off x="6496016" y="226176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97" name="Google Shape;97;p15"/>
          <p:cNvCxnSpPr/>
          <p:nvPr/>
        </p:nvCxnSpPr>
        <p:spPr>
          <a:xfrm rot="10800000" flipH="1">
            <a:off x="4298966" y="1926297"/>
            <a:ext cx="5700" cy="338400"/>
          </a:xfrm>
          <a:prstGeom prst="straightConnector1">
            <a:avLst/>
          </a:prstGeom>
          <a:noFill/>
          <a:ln w="9525" cap="flat" cmpd="sng">
            <a:solidFill>
              <a:schemeClr val="dk1"/>
            </a:solidFill>
            <a:prstDash val="solid"/>
            <a:round/>
            <a:headEnd type="none" w="med" len="med"/>
            <a:tailEnd type="none" w="med" len="med"/>
          </a:ln>
        </p:spPr>
      </p:cxnSp>
      <p:sp>
        <p:nvSpPr>
          <p:cNvPr id="98" name="Google Shape;98;p15"/>
          <p:cNvSpPr/>
          <p:nvPr/>
        </p:nvSpPr>
        <p:spPr>
          <a:xfrm>
            <a:off x="4486275" y="2587775"/>
            <a:ext cx="9441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Exit</a:t>
            </a:r>
            <a:endParaRPr/>
          </a:p>
        </p:txBody>
      </p:sp>
      <p:cxnSp>
        <p:nvCxnSpPr>
          <p:cNvPr id="99" name="Google Shape;99;p15"/>
          <p:cNvCxnSpPr/>
          <p:nvPr/>
        </p:nvCxnSpPr>
        <p:spPr>
          <a:xfrm rot="10800000" flipH="1">
            <a:off x="4972016" y="226176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15"/>
          <p:cNvCxnSpPr/>
          <p:nvPr/>
        </p:nvCxnSpPr>
        <p:spPr>
          <a:xfrm rot="10800000" flipH="1">
            <a:off x="3683800" y="2261765"/>
            <a:ext cx="5700" cy="3384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B5 Notes</a:t>
            </a:r>
            <a:endParaRPr/>
          </a:p>
        </p:txBody>
      </p:sp>
      <p:sp>
        <p:nvSpPr>
          <p:cNvPr id="106" name="Google Shape;106;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Notations include a COMPOSITION relation (i.e., the dark diamond).</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Sparkles: (1) composition; (2) modeling OPTIONALS as a child node.</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Logical test cases: (1) “File” → (all THREE mandatory children); (2) “File” → (all THREE mandatory children + an optional, Save, child).</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p:nvPr/>
        </p:nvSpPr>
        <p:spPr>
          <a:xfrm>
            <a:off x="3737525" y="981000"/>
            <a:ext cx="1128600" cy="657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Toolbar</a:t>
            </a:r>
            <a:endParaRPr/>
          </a:p>
        </p:txBody>
      </p:sp>
      <p:cxnSp>
        <p:nvCxnSpPr>
          <p:cNvPr id="112" name="Google Shape;112;p17"/>
          <p:cNvCxnSpPr>
            <a:endCxn id="111" idx="7"/>
          </p:cNvCxnSpPr>
          <p:nvPr/>
        </p:nvCxnSpPr>
        <p:spPr>
          <a:xfrm flipH="1">
            <a:off x="4700845" y="860359"/>
            <a:ext cx="343200" cy="216900"/>
          </a:xfrm>
          <a:prstGeom prst="straightConnector1">
            <a:avLst/>
          </a:prstGeom>
          <a:noFill/>
          <a:ln w="9525" cap="flat" cmpd="sng">
            <a:solidFill>
              <a:srgbClr val="000000"/>
            </a:solidFill>
            <a:prstDash val="solid"/>
            <a:round/>
            <a:headEnd type="none" w="med" len="med"/>
            <a:tailEnd type="triangle" w="med" len="med"/>
          </a:ln>
        </p:spPr>
      </p:cxnSp>
      <p:sp>
        <p:nvSpPr>
          <p:cNvPr id="113" name="Google Shape;113;p17"/>
          <p:cNvSpPr/>
          <p:nvPr/>
        </p:nvSpPr>
        <p:spPr>
          <a:xfrm>
            <a:off x="1209675" y="2587775"/>
            <a:ext cx="9441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Back or &lt;--</a:t>
            </a:r>
            <a:endParaRPr/>
          </a:p>
        </p:txBody>
      </p:sp>
      <p:sp>
        <p:nvSpPr>
          <p:cNvPr id="114" name="Google Shape;114;p17"/>
          <p:cNvSpPr txBox="1"/>
          <p:nvPr/>
        </p:nvSpPr>
        <p:spPr>
          <a:xfrm>
            <a:off x="253250" y="4165550"/>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B7</a:t>
            </a:r>
            <a:endParaRPr sz="1800" b="1">
              <a:solidFill>
                <a:srgbClr val="0000FF"/>
              </a:solidFill>
              <a:latin typeface="Comic Sans MS"/>
              <a:ea typeface="Comic Sans MS"/>
              <a:cs typeface="Comic Sans MS"/>
              <a:sym typeface="Comic Sans MS"/>
            </a:endParaRPr>
          </a:p>
        </p:txBody>
      </p:sp>
      <p:sp>
        <p:nvSpPr>
          <p:cNvPr id="115" name="Google Shape;115;p17"/>
          <p:cNvSpPr/>
          <p:nvPr/>
        </p:nvSpPr>
        <p:spPr>
          <a:xfrm>
            <a:off x="2313825" y="2587775"/>
            <a:ext cx="12636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Forward or --&gt;</a:t>
            </a:r>
            <a:endParaRPr/>
          </a:p>
        </p:txBody>
      </p:sp>
      <p:sp>
        <p:nvSpPr>
          <p:cNvPr id="116" name="Google Shape;116;p17"/>
          <p:cNvSpPr/>
          <p:nvPr/>
        </p:nvSpPr>
        <p:spPr>
          <a:xfrm>
            <a:off x="6149200" y="2587775"/>
            <a:ext cx="11844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Other(s)</a:t>
            </a:r>
            <a:endParaRPr/>
          </a:p>
        </p:txBody>
      </p:sp>
      <p:sp>
        <p:nvSpPr>
          <p:cNvPr id="117" name="Google Shape;117;p17"/>
          <p:cNvSpPr/>
          <p:nvPr/>
        </p:nvSpPr>
        <p:spPr>
          <a:xfrm>
            <a:off x="4198466" y="1638309"/>
            <a:ext cx="208500" cy="301200"/>
          </a:xfrm>
          <a:prstGeom prst="diamond">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18" name="Google Shape;118;p17"/>
          <p:cNvCxnSpPr/>
          <p:nvPr/>
        </p:nvCxnSpPr>
        <p:spPr>
          <a:xfrm>
            <a:off x="1725547" y="2253591"/>
            <a:ext cx="5029200" cy="1170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17"/>
          <p:cNvCxnSpPr/>
          <p:nvPr/>
        </p:nvCxnSpPr>
        <p:spPr>
          <a:xfrm rot="10800000" flipH="1">
            <a:off x="1716967" y="224937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120" name="Google Shape;120;p17"/>
          <p:cNvCxnSpPr/>
          <p:nvPr/>
        </p:nvCxnSpPr>
        <p:spPr>
          <a:xfrm rot="10800000" flipH="1">
            <a:off x="6746167" y="226176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121" name="Google Shape;121;p17"/>
          <p:cNvCxnSpPr/>
          <p:nvPr/>
        </p:nvCxnSpPr>
        <p:spPr>
          <a:xfrm rot="10800000" flipH="1">
            <a:off x="4298966" y="1926297"/>
            <a:ext cx="5700" cy="338400"/>
          </a:xfrm>
          <a:prstGeom prst="straightConnector1">
            <a:avLst/>
          </a:prstGeom>
          <a:noFill/>
          <a:ln w="9525" cap="flat" cmpd="sng">
            <a:solidFill>
              <a:schemeClr val="dk1"/>
            </a:solidFill>
            <a:prstDash val="solid"/>
            <a:round/>
            <a:headEnd type="none" w="med" len="med"/>
            <a:tailEnd type="none" w="med" len="med"/>
          </a:ln>
        </p:spPr>
      </p:cxnSp>
      <p:sp>
        <p:nvSpPr>
          <p:cNvPr id="122" name="Google Shape;122;p17"/>
          <p:cNvSpPr/>
          <p:nvPr/>
        </p:nvSpPr>
        <p:spPr>
          <a:xfrm>
            <a:off x="3819206" y="2587775"/>
            <a:ext cx="9441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Home</a:t>
            </a:r>
            <a:endParaRPr/>
          </a:p>
        </p:txBody>
      </p:sp>
      <p:cxnSp>
        <p:nvCxnSpPr>
          <p:cNvPr id="123" name="Google Shape;123;p17"/>
          <p:cNvCxnSpPr/>
          <p:nvPr/>
        </p:nvCxnSpPr>
        <p:spPr>
          <a:xfrm rot="10800000" flipH="1">
            <a:off x="5414849" y="2261765"/>
            <a:ext cx="5700" cy="338400"/>
          </a:xfrm>
          <a:prstGeom prst="straightConnector1">
            <a:avLst/>
          </a:prstGeom>
          <a:noFill/>
          <a:ln w="9525" cap="flat" cmpd="sng">
            <a:solidFill>
              <a:schemeClr val="dk1"/>
            </a:solidFill>
            <a:prstDash val="solid"/>
            <a:round/>
            <a:headEnd type="none" w="med" len="med"/>
            <a:tailEnd type="none" w="med" len="med"/>
          </a:ln>
        </p:spPr>
      </p:cxnSp>
      <p:cxnSp>
        <p:nvCxnSpPr>
          <p:cNvPr id="124" name="Google Shape;124;p17"/>
          <p:cNvCxnSpPr/>
          <p:nvPr/>
        </p:nvCxnSpPr>
        <p:spPr>
          <a:xfrm rot="10800000" flipH="1">
            <a:off x="4293400" y="2261765"/>
            <a:ext cx="5700" cy="338400"/>
          </a:xfrm>
          <a:prstGeom prst="straightConnector1">
            <a:avLst/>
          </a:prstGeom>
          <a:noFill/>
          <a:ln w="9525" cap="flat" cmpd="sng">
            <a:solidFill>
              <a:schemeClr val="dk1"/>
            </a:solidFill>
            <a:prstDash val="solid"/>
            <a:round/>
            <a:headEnd type="none" w="med" len="med"/>
            <a:tailEnd type="none" w="med" len="med"/>
          </a:ln>
        </p:spPr>
      </p:cxnSp>
      <p:sp>
        <p:nvSpPr>
          <p:cNvPr id="125" name="Google Shape;125;p17"/>
          <p:cNvSpPr/>
          <p:nvPr/>
        </p:nvSpPr>
        <p:spPr>
          <a:xfrm>
            <a:off x="4850700" y="2587775"/>
            <a:ext cx="11286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Reload</a:t>
            </a:r>
            <a:endParaRPr/>
          </a:p>
        </p:txBody>
      </p:sp>
      <p:cxnSp>
        <p:nvCxnSpPr>
          <p:cNvPr id="126" name="Google Shape;126;p17"/>
          <p:cNvCxnSpPr/>
          <p:nvPr/>
        </p:nvCxnSpPr>
        <p:spPr>
          <a:xfrm rot="10800000" flipH="1">
            <a:off x="2921800" y="2261765"/>
            <a:ext cx="5700" cy="338400"/>
          </a:xfrm>
          <a:prstGeom prst="straightConnector1">
            <a:avLst/>
          </a:prstGeom>
          <a:noFill/>
          <a:ln w="9525" cap="flat" cmpd="sng">
            <a:solidFill>
              <a:schemeClr val="dk1"/>
            </a:solidFill>
            <a:prstDash val="solid"/>
            <a:round/>
            <a:headEnd type="none" w="med" len="med"/>
            <a:tailEnd type="none" w="med" len="med"/>
          </a:ln>
        </p:spPr>
      </p:cxnSp>
      <p:sp>
        <p:nvSpPr>
          <p:cNvPr id="127" name="Google Shape;127;p17"/>
          <p:cNvSpPr/>
          <p:nvPr/>
        </p:nvSpPr>
        <p:spPr>
          <a:xfrm>
            <a:off x="1251525" y="904800"/>
            <a:ext cx="2112900" cy="859200"/>
          </a:xfrm>
          <a:prstGeom prst="snip1Rect">
            <a:avLst>
              <a:gd name="adj" fmla="val 24059"/>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b" anchorCtr="0">
            <a:noAutofit/>
          </a:bodyPr>
          <a:lstStyle/>
          <a:p>
            <a:pPr marL="0" lvl="0" indent="0" algn="l" rtl="0">
              <a:spcBef>
                <a:spcPts val="0"/>
              </a:spcBef>
              <a:spcAft>
                <a:spcPts val="0"/>
              </a:spcAft>
              <a:buNone/>
            </a:pPr>
            <a:r>
              <a:rPr lang="en" sz="1200"/>
              <a:t>Toolbar shall be located on the left side of the browser screen directly under the menu bar.</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B7 Notes</a:t>
            </a:r>
            <a:endParaRPr/>
          </a:p>
        </p:txBody>
      </p:sp>
      <p:sp>
        <p:nvSpPr>
          <p:cNvPr id="133" name="Google Shape;13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Notations include a COMPOSITION relation (i.e., the dark diamond).</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Sparkles: (1) composition; (2) modeling OPTIONALS as a child node; (3) modeling “&lt;--” and “--&gt;” as part of the “Back” and “Forward” respectively; (4) an annotation note about the LOCATION of the “Toolbar” (i.e., to the LEFT and DIRECTL UNDER).</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Logical test cases: (1) “Toolbar” → (all FOUR mandatory children); (2) “Toolbar” → (all FOUR mandatory children + an optional, [e.g., Extensions], child).</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9"/>
          <p:cNvSpPr/>
          <p:nvPr/>
        </p:nvSpPr>
        <p:spPr>
          <a:xfrm>
            <a:off x="3196725" y="981000"/>
            <a:ext cx="1669500" cy="657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No Current Page</a:t>
            </a:r>
            <a:endParaRPr/>
          </a:p>
        </p:txBody>
      </p:sp>
      <p:cxnSp>
        <p:nvCxnSpPr>
          <p:cNvPr id="139" name="Google Shape;139;p19"/>
          <p:cNvCxnSpPr/>
          <p:nvPr/>
        </p:nvCxnSpPr>
        <p:spPr>
          <a:xfrm>
            <a:off x="3290125" y="876400"/>
            <a:ext cx="237000" cy="165000"/>
          </a:xfrm>
          <a:prstGeom prst="straightConnector1">
            <a:avLst/>
          </a:prstGeom>
          <a:noFill/>
          <a:ln w="9525" cap="flat" cmpd="sng">
            <a:solidFill>
              <a:srgbClr val="000000"/>
            </a:solidFill>
            <a:prstDash val="solid"/>
            <a:round/>
            <a:headEnd type="none" w="med" len="med"/>
            <a:tailEnd type="triangle" w="med" len="med"/>
          </a:ln>
        </p:spPr>
      </p:cxnSp>
      <p:sp>
        <p:nvSpPr>
          <p:cNvPr id="140" name="Google Shape;140;p19"/>
          <p:cNvSpPr txBox="1"/>
          <p:nvPr/>
        </p:nvSpPr>
        <p:spPr>
          <a:xfrm>
            <a:off x="231700" y="243275"/>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B11</a:t>
            </a:r>
            <a:endParaRPr sz="1800" b="1">
              <a:solidFill>
                <a:srgbClr val="0000FF"/>
              </a:solidFill>
              <a:latin typeface="Comic Sans MS"/>
              <a:ea typeface="Comic Sans MS"/>
              <a:cs typeface="Comic Sans MS"/>
              <a:sym typeface="Comic Sans MS"/>
            </a:endParaRPr>
          </a:p>
        </p:txBody>
      </p:sp>
      <p:sp>
        <p:nvSpPr>
          <p:cNvPr id="141" name="Google Shape;141;p19"/>
          <p:cNvSpPr/>
          <p:nvPr/>
        </p:nvSpPr>
        <p:spPr>
          <a:xfrm>
            <a:off x="3196725" y="3038400"/>
            <a:ext cx="1669500" cy="657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Current Page</a:t>
            </a:r>
            <a:endParaRPr/>
          </a:p>
        </p:txBody>
      </p:sp>
      <p:sp>
        <p:nvSpPr>
          <p:cNvPr id="142" name="Google Shape;142;p19"/>
          <p:cNvSpPr/>
          <p:nvPr/>
        </p:nvSpPr>
        <p:spPr>
          <a:xfrm>
            <a:off x="3251356" y="1623500"/>
            <a:ext cx="520050" cy="1451100"/>
          </a:xfrm>
          <a:custGeom>
            <a:avLst/>
            <a:gdLst/>
            <a:ahLst/>
            <a:cxnLst/>
            <a:rect l="l" t="t" r="r" b="b"/>
            <a:pathLst>
              <a:path w="20802" h="58044" extrusionOk="0">
                <a:moveTo>
                  <a:pt x="20803" y="0"/>
                </a:moveTo>
                <a:cubicBezTo>
                  <a:pt x="17355" y="4215"/>
                  <a:pt x="1024" y="15613"/>
                  <a:pt x="114" y="25287"/>
                </a:cubicBezTo>
                <a:cubicBezTo>
                  <a:pt x="-796" y="34961"/>
                  <a:pt x="12805" y="52585"/>
                  <a:pt x="15343" y="58044"/>
                </a:cubicBezTo>
              </a:path>
            </a:pathLst>
          </a:custGeom>
          <a:noFill/>
          <a:ln w="9525" cap="flat" cmpd="sng">
            <a:solidFill>
              <a:schemeClr val="dk1"/>
            </a:solidFill>
            <a:prstDash val="solid"/>
            <a:round/>
            <a:headEnd type="none" w="med" len="med"/>
            <a:tailEnd type="triangle" w="med" len="med"/>
          </a:ln>
        </p:spPr>
        <p:txBody>
          <a:bodyPr/>
          <a:lstStyle/>
          <a:p>
            <a:endParaRPr lang="en-US"/>
          </a:p>
        </p:txBody>
      </p:sp>
      <p:sp>
        <p:nvSpPr>
          <p:cNvPr id="143" name="Google Shape;143;p19"/>
          <p:cNvSpPr/>
          <p:nvPr/>
        </p:nvSpPr>
        <p:spPr>
          <a:xfrm rot="10800000">
            <a:off x="4256324" y="1609133"/>
            <a:ext cx="520050" cy="1451100"/>
          </a:xfrm>
          <a:custGeom>
            <a:avLst/>
            <a:gdLst/>
            <a:ahLst/>
            <a:cxnLst/>
            <a:rect l="l" t="t" r="r" b="b"/>
            <a:pathLst>
              <a:path w="20802" h="58044" extrusionOk="0">
                <a:moveTo>
                  <a:pt x="20803" y="0"/>
                </a:moveTo>
                <a:cubicBezTo>
                  <a:pt x="17355" y="4215"/>
                  <a:pt x="1024" y="15613"/>
                  <a:pt x="114" y="25287"/>
                </a:cubicBezTo>
                <a:cubicBezTo>
                  <a:pt x="-796" y="34961"/>
                  <a:pt x="12805" y="52585"/>
                  <a:pt x="15343" y="58044"/>
                </a:cubicBezTo>
              </a:path>
            </a:pathLst>
          </a:custGeom>
          <a:noFill/>
          <a:ln w="9525" cap="flat" cmpd="sng">
            <a:solidFill>
              <a:schemeClr val="dk1"/>
            </a:solidFill>
            <a:prstDash val="solid"/>
            <a:round/>
            <a:headEnd type="none" w="med" len="med"/>
            <a:tailEnd type="triangle" w="med" len="med"/>
          </a:ln>
        </p:spPr>
        <p:txBody>
          <a:bodyPr/>
          <a:lstStyle/>
          <a:p>
            <a:endParaRPr lang="en-US"/>
          </a:p>
        </p:txBody>
      </p:sp>
      <p:sp>
        <p:nvSpPr>
          <p:cNvPr id="144" name="Google Shape;144;p19"/>
          <p:cNvSpPr txBox="1"/>
          <p:nvPr/>
        </p:nvSpPr>
        <p:spPr>
          <a:xfrm>
            <a:off x="1502445" y="1918849"/>
            <a:ext cx="17163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display one simple HMTL page</a:t>
            </a:r>
            <a:endParaRPr i="1">
              <a:solidFill>
                <a:srgbClr val="000000"/>
              </a:solidFill>
            </a:endParaRPr>
          </a:p>
        </p:txBody>
      </p:sp>
      <p:sp>
        <p:nvSpPr>
          <p:cNvPr id="145" name="Google Shape;145;p19"/>
          <p:cNvSpPr txBox="1"/>
          <p:nvPr/>
        </p:nvSpPr>
        <p:spPr>
          <a:xfrm>
            <a:off x="4702845" y="1918849"/>
            <a:ext cx="17163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display no simple HMTL page</a:t>
            </a:r>
            <a:endParaRPr i="1">
              <a:solidFill>
                <a:srgbClr val="000000"/>
              </a:solidFill>
            </a:endParaRPr>
          </a:p>
        </p:txBody>
      </p:sp>
      <p:cxnSp>
        <p:nvCxnSpPr>
          <p:cNvPr id="146" name="Google Shape;146;p19"/>
          <p:cNvCxnSpPr/>
          <p:nvPr/>
        </p:nvCxnSpPr>
        <p:spPr>
          <a:xfrm rot="10800000" flipH="1">
            <a:off x="3290125" y="3635125"/>
            <a:ext cx="258900" cy="179400"/>
          </a:xfrm>
          <a:prstGeom prst="straightConnector1">
            <a:avLst/>
          </a:prstGeom>
          <a:noFill/>
          <a:ln w="9525" cap="flat" cmpd="sng">
            <a:solidFill>
              <a:srgbClr val="000000"/>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B11 Notes</a:t>
            </a:r>
            <a:endParaRPr/>
          </a:p>
        </p:txBody>
      </p:sp>
      <p:sp>
        <p:nvSpPr>
          <p:cNvPr id="152" name="Google Shape;15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Sparkles: (1) do NOT model “Browser” at all; (2) designate “No Current Page” and “Current Page” as the two, parallel initial/starting states; (3) use of “No Current Page” and “Current Page” as the labels of the states, because these are concepts that are specially defined in the requirement (as opposed to terms related to “Simple HTML page”); (4) the XOR status is modeled as two separate states, that is, no browser can be in “No Current Page” and “Current Page” simultaneously.</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Logical test cases: (1) “No Current Page” → (display one simple HTML page) → “Current Page”; (2) “Current Page” → (display no simple HTML page) → “No Current Page”.</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1"/>
          <p:cNvSpPr/>
          <p:nvPr/>
        </p:nvSpPr>
        <p:spPr>
          <a:xfrm>
            <a:off x="3653925" y="371400"/>
            <a:ext cx="1242900" cy="5625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Browser</a:t>
            </a:r>
            <a:endParaRPr/>
          </a:p>
        </p:txBody>
      </p:sp>
      <p:cxnSp>
        <p:nvCxnSpPr>
          <p:cNvPr id="158" name="Google Shape;158;p21"/>
          <p:cNvCxnSpPr/>
          <p:nvPr/>
        </p:nvCxnSpPr>
        <p:spPr>
          <a:xfrm>
            <a:off x="3747325" y="238065"/>
            <a:ext cx="237000" cy="165000"/>
          </a:xfrm>
          <a:prstGeom prst="straightConnector1">
            <a:avLst/>
          </a:prstGeom>
          <a:noFill/>
          <a:ln w="9525" cap="flat" cmpd="sng">
            <a:solidFill>
              <a:srgbClr val="000000"/>
            </a:solidFill>
            <a:prstDash val="solid"/>
            <a:round/>
            <a:headEnd type="none" w="med" len="med"/>
            <a:tailEnd type="triangle" w="med" len="med"/>
          </a:ln>
        </p:spPr>
      </p:cxnSp>
      <p:sp>
        <p:nvSpPr>
          <p:cNvPr id="159" name="Google Shape;159;p21"/>
          <p:cNvSpPr txBox="1"/>
          <p:nvPr/>
        </p:nvSpPr>
        <p:spPr>
          <a:xfrm>
            <a:off x="7415350" y="178600"/>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B12</a:t>
            </a:r>
            <a:endParaRPr sz="1800" b="1">
              <a:solidFill>
                <a:srgbClr val="0000FF"/>
              </a:solidFill>
              <a:latin typeface="Comic Sans MS"/>
              <a:ea typeface="Comic Sans MS"/>
              <a:cs typeface="Comic Sans MS"/>
              <a:sym typeface="Comic Sans MS"/>
            </a:endParaRPr>
          </a:p>
        </p:txBody>
      </p:sp>
      <p:sp>
        <p:nvSpPr>
          <p:cNvPr id="160" name="Google Shape;160;p21"/>
          <p:cNvSpPr/>
          <p:nvPr/>
        </p:nvSpPr>
        <p:spPr>
          <a:xfrm>
            <a:off x="3613643" y="1347633"/>
            <a:ext cx="1321800" cy="657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Pop-up Window</a:t>
            </a:r>
            <a:endParaRPr/>
          </a:p>
        </p:txBody>
      </p:sp>
      <p:cxnSp>
        <p:nvCxnSpPr>
          <p:cNvPr id="161" name="Google Shape;161;p21"/>
          <p:cNvCxnSpPr>
            <a:stCxn id="157" idx="4"/>
            <a:endCxn id="160" idx="0"/>
          </p:cNvCxnSpPr>
          <p:nvPr/>
        </p:nvCxnSpPr>
        <p:spPr>
          <a:xfrm flipH="1">
            <a:off x="4274475" y="933900"/>
            <a:ext cx="900" cy="413700"/>
          </a:xfrm>
          <a:prstGeom prst="straightConnector1">
            <a:avLst/>
          </a:prstGeom>
          <a:noFill/>
          <a:ln w="9525" cap="flat" cmpd="sng">
            <a:solidFill>
              <a:schemeClr val="dk1"/>
            </a:solidFill>
            <a:prstDash val="solid"/>
            <a:round/>
            <a:headEnd type="none" w="med" len="med"/>
            <a:tailEnd type="triangle" w="med" len="med"/>
          </a:ln>
        </p:spPr>
      </p:cxnSp>
      <p:sp>
        <p:nvSpPr>
          <p:cNvPr id="162" name="Google Shape;162;p21"/>
          <p:cNvSpPr txBox="1"/>
          <p:nvPr/>
        </p:nvSpPr>
        <p:spPr>
          <a:xfrm>
            <a:off x="4325850" y="933900"/>
            <a:ext cx="180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click “File - -&gt; Open”</a:t>
            </a:r>
            <a:endParaRPr i="1">
              <a:solidFill>
                <a:srgbClr val="000000"/>
              </a:solidFill>
            </a:endParaRPr>
          </a:p>
        </p:txBody>
      </p:sp>
      <p:sp>
        <p:nvSpPr>
          <p:cNvPr id="163" name="Google Shape;163;p21"/>
          <p:cNvSpPr/>
          <p:nvPr/>
        </p:nvSpPr>
        <p:spPr>
          <a:xfrm>
            <a:off x="1154550" y="371400"/>
            <a:ext cx="11286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Text Prompt</a:t>
            </a:r>
            <a:endParaRPr/>
          </a:p>
        </p:txBody>
      </p:sp>
      <p:sp>
        <p:nvSpPr>
          <p:cNvPr id="164" name="Google Shape;164;p21"/>
          <p:cNvSpPr/>
          <p:nvPr/>
        </p:nvSpPr>
        <p:spPr>
          <a:xfrm>
            <a:off x="1136250" y="1221175"/>
            <a:ext cx="11352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Text Field</a:t>
            </a:r>
            <a:endParaRPr/>
          </a:p>
        </p:txBody>
      </p:sp>
      <p:sp>
        <p:nvSpPr>
          <p:cNvPr id="165" name="Google Shape;165;p21"/>
          <p:cNvSpPr/>
          <p:nvPr/>
        </p:nvSpPr>
        <p:spPr>
          <a:xfrm>
            <a:off x="1084934" y="3800400"/>
            <a:ext cx="11844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Other(s)</a:t>
            </a:r>
            <a:endParaRPr/>
          </a:p>
        </p:txBody>
      </p:sp>
      <p:sp>
        <p:nvSpPr>
          <p:cNvPr id="166" name="Google Shape;166;p21"/>
          <p:cNvSpPr/>
          <p:nvPr/>
        </p:nvSpPr>
        <p:spPr>
          <a:xfrm>
            <a:off x="7011525" y="3938325"/>
            <a:ext cx="13890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Closing Pop-up Window</a:t>
            </a:r>
            <a:endParaRPr/>
          </a:p>
        </p:txBody>
      </p:sp>
      <p:sp>
        <p:nvSpPr>
          <p:cNvPr id="167" name="Google Shape;167;p21"/>
          <p:cNvSpPr/>
          <p:nvPr/>
        </p:nvSpPr>
        <p:spPr>
          <a:xfrm>
            <a:off x="1154550" y="2124000"/>
            <a:ext cx="11286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“OK” Button</a:t>
            </a:r>
            <a:endParaRPr/>
          </a:p>
        </p:txBody>
      </p:sp>
      <p:sp>
        <p:nvSpPr>
          <p:cNvPr id="168" name="Google Shape;168;p21"/>
          <p:cNvSpPr/>
          <p:nvPr/>
        </p:nvSpPr>
        <p:spPr>
          <a:xfrm>
            <a:off x="1113668" y="2973775"/>
            <a:ext cx="12429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“Cancel” Button</a:t>
            </a:r>
            <a:endParaRPr/>
          </a:p>
        </p:txBody>
      </p:sp>
      <p:sp>
        <p:nvSpPr>
          <p:cNvPr id="169" name="Google Shape;169;p21"/>
          <p:cNvSpPr/>
          <p:nvPr/>
        </p:nvSpPr>
        <p:spPr>
          <a:xfrm rot="5400000">
            <a:off x="3360266" y="1529011"/>
            <a:ext cx="208500" cy="301200"/>
          </a:xfrm>
          <a:prstGeom prst="diamond">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0" name="Google Shape;170;p21"/>
          <p:cNvCxnSpPr/>
          <p:nvPr/>
        </p:nvCxnSpPr>
        <p:spPr>
          <a:xfrm flipH="1">
            <a:off x="2916525" y="751466"/>
            <a:ext cx="14400" cy="339240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21"/>
          <p:cNvCxnSpPr>
            <a:stCxn id="163" idx="6"/>
          </p:cNvCxnSpPr>
          <p:nvPr/>
        </p:nvCxnSpPr>
        <p:spPr>
          <a:xfrm>
            <a:off x="2283150" y="750300"/>
            <a:ext cx="654900" cy="3900"/>
          </a:xfrm>
          <a:prstGeom prst="straightConnector1">
            <a:avLst/>
          </a:prstGeom>
          <a:noFill/>
          <a:ln w="9525" cap="flat" cmpd="sng">
            <a:solidFill>
              <a:schemeClr val="dk1"/>
            </a:solidFill>
            <a:prstDash val="solid"/>
            <a:round/>
            <a:headEnd type="none" w="med" len="med"/>
            <a:tailEnd type="none" w="med" len="med"/>
          </a:ln>
        </p:spPr>
      </p:cxnSp>
      <p:cxnSp>
        <p:nvCxnSpPr>
          <p:cNvPr id="172" name="Google Shape;172;p21"/>
          <p:cNvCxnSpPr/>
          <p:nvPr/>
        </p:nvCxnSpPr>
        <p:spPr>
          <a:xfrm>
            <a:off x="2276025" y="1575350"/>
            <a:ext cx="654900" cy="3900"/>
          </a:xfrm>
          <a:prstGeom prst="straightConnector1">
            <a:avLst/>
          </a:prstGeom>
          <a:noFill/>
          <a:ln w="9525" cap="flat" cmpd="sng">
            <a:solidFill>
              <a:schemeClr val="dk1"/>
            </a:solidFill>
            <a:prstDash val="solid"/>
            <a:round/>
            <a:headEnd type="none" w="med" len="med"/>
            <a:tailEnd type="none" w="med" len="med"/>
          </a:ln>
        </p:spPr>
      </p:cxnSp>
      <p:cxnSp>
        <p:nvCxnSpPr>
          <p:cNvPr id="173" name="Google Shape;173;p21"/>
          <p:cNvCxnSpPr/>
          <p:nvPr/>
        </p:nvCxnSpPr>
        <p:spPr>
          <a:xfrm>
            <a:off x="2276025" y="2523288"/>
            <a:ext cx="654900" cy="3900"/>
          </a:xfrm>
          <a:prstGeom prst="straightConnector1">
            <a:avLst/>
          </a:prstGeom>
          <a:noFill/>
          <a:ln w="9525" cap="flat" cmpd="sng">
            <a:solidFill>
              <a:schemeClr val="dk1"/>
            </a:solidFill>
            <a:prstDash val="solid"/>
            <a:round/>
            <a:headEnd type="none" w="med" len="med"/>
            <a:tailEnd type="none" w="med" len="med"/>
          </a:ln>
        </p:spPr>
      </p:cxnSp>
      <p:cxnSp>
        <p:nvCxnSpPr>
          <p:cNvPr id="174" name="Google Shape;174;p21"/>
          <p:cNvCxnSpPr/>
          <p:nvPr/>
        </p:nvCxnSpPr>
        <p:spPr>
          <a:xfrm>
            <a:off x="2352159" y="3357909"/>
            <a:ext cx="567000" cy="3900"/>
          </a:xfrm>
          <a:prstGeom prst="straightConnector1">
            <a:avLst/>
          </a:prstGeom>
          <a:noFill/>
          <a:ln w="9525" cap="flat" cmpd="sng">
            <a:solidFill>
              <a:schemeClr val="dk1"/>
            </a:solidFill>
            <a:prstDash val="solid"/>
            <a:round/>
            <a:headEnd type="none" w="med" len="med"/>
            <a:tailEnd type="none" w="med" len="med"/>
          </a:ln>
        </p:spPr>
      </p:cxnSp>
      <p:cxnSp>
        <p:nvCxnSpPr>
          <p:cNvPr id="175" name="Google Shape;175;p21"/>
          <p:cNvCxnSpPr/>
          <p:nvPr/>
        </p:nvCxnSpPr>
        <p:spPr>
          <a:xfrm>
            <a:off x="2268783" y="4143875"/>
            <a:ext cx="654900" cy="3900"/>
          </a:xfrm>
          <a:prstGeom prst="straightConnector1">
            <a:avLst/>
          </a:prstGeom>
          <a:noFill/>
          <a:ln w="9525" cap="flat" cmpd="sng">
            <a:solidFill>
              <a:schemeClr val="dk1"/>
            </a:solidFill>
            <a:prstDash val="solid"/>
            <a:round/>
            <a:headEnd type="none" w="med" len="med"/>
            <a:tailEnd type="none" w="med" len="med"/>
          </a:ln>
        </p:spPr>
      </p:cxnSp>
      <p:cxnSp>
        <p:nvCxnSpPr>
          <p:cNvPr id="176" name="Google Shape;176;p21"/>
          <p:cNvCxnSpPr/>
          <p:nvPr/>
        </p:nvCxnSpPr>
        <p:spPr>
          <a:xfrm>
            <a:off x="2925848" y="1679067"/>
            <a:ext cx="384000" cy="3900"/>
          </a:xfrm>
          <a:prstGeom prst="straightConnector1">
            <a:avLst/>
          </a:prstGeom>
          <a:noFill/>
          <a:ln w="9525" cap="flat" cmpd="sng">
            <a:solidFill>
              <a:schemeClr val="dk1"/>
            </a:solidFill>
            <a:prstDash val="solid"/>
            <a:round/>
            <a:headEnd type="none" w="med" len="med"/>
            <a:tailEnd type="none" w="med" len="med"/>
          </a:ln>
        </p:spPr>
      </p:cxnSp>
      <p:sp>
        <p:nvSpPr>
          <p:cNvPr id="177" name="Google Shape;177;p21"/>
          <p:cNvSpPr/>
          <p:nvPr/>
        </p:nvSpPr>
        <p:spPr>
          <a:xfrm>
            <a:off x="3240834" y="2389915"/>
            <a:ext cx="2054400" cy="958200"/>
          </a:xfrm>
          <a:prstGeom prst="diamond">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“OK” or “Cancel”?</a:t>
            </a:r>
            <a:endParaRPr/>
          </a:p>
        </p:txBody>
      </p:sp>
      <p:sp>
        <p:nvSpPr>
          <p:cNvPr id="178" name="Google Shape;178;p21"/>
          <p:cNvSpPr txBox="1"/>
          <p:nvPr/>
        </p:nvSpPr>
        <p:spPr>
          <a:xfrm>
            <a:off x="3779128" y="1964176"/>
            <a:ext cx="1716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press</a:t>
            </a:r>
            <a:endParaRPr i="1">
              <a:solidFill>
                <a:srgbClr val="000000"/>
              </a:solidFill>
            </a:endParaRPr>
          </a:p>
        </p:txBody>
      </p:sp>
      <p:cxnSp>
        <p:nvCxnSpPr>
          <p:cNvPr id="179" name="Google Shape;179;p21"/>
          <p:cNvCxnSpPr>
            <a:stCxn id="160" idx="4"/>
            <a:endCxn id="177" idx="0"/>
          </p:cNvCxnSpPr>
          <p:nvPr/>
        </p:nvCxnSpPr>
        <p:spPr>
          <a:xfrm flipH="1">
            <a:off x="4267943" y="2004933"/>
            <a:ext cx="6600" cy="384900"/>
          </a:xfrm>
          <a:prstGeom prst="straightConnector1">
            <a:avLst/>
          </a:prstGeom>
          <a:noFill/>
          <a:ln w="9525" cap="flat" cmpd="sng">
            <a:solidFill>
              <a:schemeClr val="dk1"/>
            </a:solidFill>
            <a:prstDash val="solid"/>
            <a:round/>
            <a:headEnd type="none" w="med" len="med"/>
            <a:tailEnd type="triangle" w="med" len="med"/>
          </a:ln>
        </p:spPr>
      </p:cxnSp>
      <p:sp>
        <p:nvSpPr>
          <p:cNvPr id="180" name="Google Shape;180;p21"/>
          <p:cNvSpPr/>
          <p:nvPr/>
        </p:nvSpPr>
        <p:spPr>
          <a:xfrm>
            <a:off x="6796425" y="2823600"/>
            <a:ext cx="1802700" cy="9582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Content Resource Downloaded to Browser</a:t>
            </a:r>
            <a:endParaRPr/>
          </a:p>
        </p:txBody>
      </p:sp>
      <p:sp>
        <p:nvSpPr>
          <p:cNvPr id="181" name="Google Shape;181;p21"/>
          <p:cNvSpPr/>
          <p:nvPr/>
        </p:nvSpPr>
        <p:spPr>
          <a:xfrm>
            <a:off x="6796425" y="1579250"/>
            <a:ext cx="1802700" cy="10596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Text Field Content Copied to Address Field</a:t>
            </a:r>
            <a:endParaRPr/>
          </a:p>
        </p:txBody>
      </p:sp>
      <p:sp>
        <p:nvSpPr>
          <p:cNvPr id="182" name="Google Shape;182;p21"/>
          <p:cNvSpPr/>
          <p:nvPr/>
        </p:nvSpPr>
        <p:spPr>
          <a:xfrm rot="5400000">
            <a:off x="5544868" y="2810113"/>
            <a:ext cx="14325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cxnSp>
        <p:nvCxnSpPr>
          <p:cNvPr id="183" name="Google Shape;183;p21"/>
          <p:cNvCxnSpPr>
            <a:stCxn id="177" idx="3"/>
            <a:endCxn id="182" idx="2"/>
          </p:cNvCxnSpPr>
          <p:nvPr/>
        </p:nvCxnSpPr>
        <p:spPr>
          <a:xfrm rot="10800000" flipH="1">
            <a:off x="5295234" y="2863015"/>
            <a:ext cx="913200" cy="6000"/>
          </a:xfrm>
          <a:prstGeom prst="straightConnector1">
            <a:avLst/>
          </a:prstGeom>
          <a:noFill/>
          <a:ln w="9525" cap="flat" cmpd="sng">
            <a:solidFill>
              <a:schemeClr val="dk1"/>
            </a:solidFill>
            <a:prstDash val="solid"/>
            <a:round/>
            <a:headEnd type="none" w="med" len="med"/>
            <a:tailEnd type="triangle" w="med" len="med"/>
          </a:ln>
        </p:spPr>
      </p:cxnSp>
      <p:sp>
        <p:nvSpPr>
          <p:cNvPr id="184" name="Google Shape;184;p21"/>
          <p:cNvSpPr txBox="1"/>
          <p:nvPr/>
        </p:nvSpPr>
        <p:spPr>
          <a:xfrm>
            <a:off x="4893678" y="2489739"/>
            <a:ext cx="1716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“OK”</a:t>
            </a:r>
            <a:endParaRPr i="1">
              <a:solidFill>
                <a:srgbClr val="000000"/>
              </a:solidFill>
            </a:endParaRPr>
          </a:p>
        </p:txBody>
      </p:sp>
      <p:cxnSp>
        <p:nvCxnSpPr>
          <p:cNvPr id="185" name="Google Shape;185;p21"/>
          <p:cNvCxnSpPr>
            <a:stCxn id="182" idx="0"/>
            <a:endCxn id="181" idx="2"/>
          </p:cNvCxnSpPr>
          <p:nvPr/>
        </p:nvCxnSpPr>
        <p:spPr>
          <a:xfrm rot="10800000" flipH="1">
            <a:off x="6313918" y="2109013"/>
            <a:ext cx="482400" cy="753900"/>
          </a:xfrm>
          <a:prstGeom prst="straightConnector1">
            <a:avLst/>
          </a:prstGeom>
          <a:noFill/>
          <a:ln w="9525" cap="flat" cmpd="sng">
            <a:solidFill>
              <a:schemeClr val="dk1"/>
            </a:solidFill>
            <a:prstDash val="solid"/>
            <a:round/>
            <a:headEnd type="none" w="med" len="med"/>
            <a:tailEnd type="triangle" w="med" len="med"/>
          </a:ln>
        </p:spPr>
      </p:cxnSp>
      <p:cxnSp>
        <p:nvCxnSpPr>
          <p:cNvPr id="186" name="Google Shape;186;p21"/>
          <p:cNvCxnSpPr>
            <a:endCxn id="180" idx="2"/>
          </p:cNvCxnSpPr>
          <p:nvPr/>
        </p:nvCxnSpPr>
        <p:spPr>
          <a:xfrm>
            <a:off x="6314025" y="2862900"/>
            <a:ext cx="482400" cy="439800"/>
          </a:xfrm>
          <a:prstGeom prst="straightConnector1">
            <a:avLst/>
          </a:prstGeom>
          <a:noFill/>
          <a:ln w="9525" cap="flat" cmpd="sng">
            <a:solidFill>
              <a:schemeClr val="dk1"/>
            </a:solidFill>
            <a:prstDash val="solid"/>
            <a:round/>
            <a:headEnd type="none" w="med" len="med"/>
            <a:tailEnd type="triangle" w="med" len="med"/>
          </a:ln>
        </p:spPr>
      </p:cxnSp>
      <p:cxnSp>
        <p:nvCxnSpPr>
          <p:cNvPr id="187" name="Google Shape;187;p21"/>
          <p:cNvCxnSpPr>
            <a:stCxn id="182" idx="0"/>
            <a:endCxn id="166" idx="2"/>
          </p:cNvCxnSpPr>
          <p:nvPr/>
        </p:nvCxnSpPr>
        <p:spPr>
          <a:xfrm>
            <a:off x="6313918" y="2862913"/>
            <a:ext cx="697500" cy="1454400"/>
          </a:xfrm>
          <a:prstGeom prst="straightConnector1">
            <a:avLst/>
          </a:prstGeom>
          <a:noFill/>
          <a:ln w="9525" cap="flat" cmpd="sng">
            <a:solidFill>
              <a:schemeClr val="dk1"/>
            </a:solidFill>
            <a:prstDash val="solid"/>
            <a:round/>
            <a:headEnd type="none" w="med" len="med"/>
            <a:tailEnd type="triangle" w="med" len="med"/>
          </a:ln>
        </p:spPr>
      </p:cxnSp>
      <p:sp>
        <p:nvSpPr>
          <p:cNvPr id="188" name="Google Shape;188;p21"/>
          <p:cNvSpPr txBox="1"/>
          <p:nvPr/>
        </p:nvSpPr>
        <p:spPr>
          <a:xfrm>
            <a:off x="3831928" y="3426764"/>
            <a:ext cx="1716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“Cancel”</a:t>
            </a:r>
            <a:endParaRPr i="1">
              <a:solidFill>
                <a:srgbClr val="000000"/>
              </a:solidFill>
            </a:endParaRPr>
          </a:p>
        </p:txBody>
      </p:sp>
      <p:cxnSp>
        <p:nvCxnSpPr>
          <p:cNvPr id="189" name="Google Shape;189;p21"/>
          <p:cNvCxnSpPr>
            <a:stCxn id="177" idx="2"/>
            <a:endCxn id="166" idx="2"/>
          </p:cNvCxnSpPr>
          <p:nvPr/>
        </p:nvCxnSpPr>
        <p:spPr>
          <a:xfrm rot="-5400000" flipH="1">
            <a:off x="5155284" y="2460865"/>
            <a:ext cx="969000" cy="2743500"/>
          </a:xfrm>
          <a:prstGeom prst="bentConnector2">
            <a:avLst/>
          </a:prstGeom>
          <a:noFill/>
          <a:ln w="9525" cap="flat" cmpd="sng">
            <a:solidFill>
              <a:schemeClr val="dk1"/>
            </a:solidFill>
            <a:prstDash val="solid"/>
            <a:round/>
            <a:headEnd type="none" w="med" len="med"/>
            <a:tailEnd type="triangle" w="med" len="med"/>
          </a:ln>
        </p:spPr>
      </p:cxnSp>
      <p:sp>
        <p:nvSpPr>
          <p:cNvPr id="190" name="Google Shape;190;p21"/>
          <p:cNvSpPr/>
          <p:nvPr/>
        </p:nvSpPr>
        <p:spPr>
          <a:xfrm>
            <a:off x="5910908" y="1659589"/>
            <a:ext cx="697500" cy="400200"/>
          </a:xfrm>
          <a:prstGeom prst="snip1Rect">
            <a:avLst>
              <a:gd name="adj" fmla="val 24059"/>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200"/>
              <a:t>AND</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B12 Notes</a:t>
            </a:r>
            <a:endParaRPr/>
          </a:p>
        </p:txBody>
      </p:sp>
      <p:sp>
        <p:nvSpPr>
          <p:cNvPr id="196" name="Google Shape;196;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dirty="0">
                <a:solidFill>
                  <a:schemeClr val="dk1"/>
                </a:solidFill>
              </a:rPr>
              <a:t>Notations include a COMPOSITION relation (i.e., the dark diamond).</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Sparkles: (1) composition; (2) making sure that “Other(s)” is a part of “Pop-up Window, due to “at least” in the requirement; (3) a single “Closing Pop-up Window” state that is shared between “OK” button press and “Cancel” button press, rather than having TWO “Closing Pop-up Window” states; (4) “AND” split after “OK”.</a:t>
            </a:r>
            <a:endParaRPr dirty="0">
              <a:solidFill>
                <a:schemeClr val="dk1"/>
              </a:solidFill>
            </a:endParaRPr>
          </a:p>
          <a:p>
            <a:pPr marL="457200" lvl="0" indent="-342900" algn="l" rtl="0">
              <a:spcBef>
                <a:spcPts val="0"/>
              </a:spcBef>
              <a:spcAft>
                <a:spcPts val="0"/>
              </a:spcAft>
              <a:buClr>
                <a:schemeClr val="dk1"/>
              </a:buClr>
              <a:buSzPts val="1800"/>
              <a:buChar char="●"/>
            </a:pPr>
            <a:r>
              <a:rPr lang="en" dirty="0">
                <a:solidFill>
                  <a:schemeClr val="dk1"/>
                </a:solidFill>
              </a:rPr>
              <a:t>Logical test cases: (1) “Browser” → … → (“OK”) → do THREE things; (2) “Browser” → …. </a:t>
            </a:r>
            <a:r>
              <a:rPr lang="en">
                <a:solidFill>
                  <a:schemeClr val="dk1"/>
                </a:solidFill>
              </a:rPr>
              <a:t>→ (“Cancel”) </a:t>
            </a:r>
            <a:r>
              <a:rPr lang="en" dirty="0">
                <a:solidFill>
                  <a:schemeClr val="dk1"/>
                </a:solidFill>
              </a:rPr>
              <a:t>→ do ONE thing.</a:t>
            </a:r>
            <a:endParaRPr dirty="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3"/>
          <p:cNvSpPr/>
          <p:nvPr/>
        </p:nvSpPr>
        <p:spPr>
          <a:xfrm>
            <a:off x="3653925" y="371400"/>
            <a:ext cx="1242900" cy="5625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Browser</a:t>
            </a:r>
            <a:endParaRPr/>
          </a:p>
        </p:txBody>
      </p:sp>
      <p:cxnSp>
        <p:nvCxnSpPr>
          <p:cNvPr id="202" name="Google Shape;202;p23"/>
          <p:cNvCxnSpPr/>
          <p:nvPr/>
        </p:nvCxnSpPr>
        <p:spPr>
          <a:xfrm>
            <a:off x="3747325" y="238065"/>
            <a:ext cx="237000" cy="165000"/>
          </a:xfrm>
          <a:prstGeom prst="straightConnector1">
            <a:avLst/>
          </a:prstGeom>
          <a:noFill/>
          <a:ln w="9525" cap="flat" cmpd="sng">
            <a:solidFill>
              <a:srgbClr val="000000"/>
            </a:solidFill>
            <a:prstDash val="solid"/>
            <a:round/>
            <a:headEnd type="none" w="med" len="med"/>
            <a:tailEnd type="triangle" w="med" len="med"/>
          </a:ln>
        </p:spPr>
      </p:cxnSp>
      <p:sp>
        <p:nvSpPr>
          <p:cNvPr id="203" name="Google Shape;203;p23"/>
          <p:cNvSpPr txBox="1"/>
          <p:nvPr/>
        </p:nvSpPr>
        <p:spPr>
          <a:xfrm>
            <a:off x="7415350" y="178600"/>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B15</a:t>
            </a:r>
            <a:endParaRPr sz="1800" b="1">
              <a:solidFill>
                <a:srgbClr val="0000FF"/>
              </a:solidFill>
              <a:latin typeface="Comic Sans MS"/>
              <a:ea typeface="Comic Sans MS"/>
              <a:cs typeface="Comic Sans MS"/>
              <a:sym typeface="Comic Sans MS"/>
            </a:endParaRPr>
          </a:p>
        </p:txBody>
      </p:sp>
      <p:sp>
        <p:nvSpPr>
          <p:cNvPr id="204" name="Google Shape;204;p23"/>
          <p:cNvSpPr/>
          <p:nvPr/>
        </p:nvSpPr>
        <p:spPr>
          <a:xfrm>
            <a:off x="3613643" y="1475423"/>
            <a:ext cx="1321800" cy="657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Pop-up Window</a:t>
            </a:r>
            <a:endParaRPr/>
          </a:p>
        </p:txBody>
      </p:sp>
      <p:cxnSp>
        <p:nvCxnSpPr>
          <p:cNvPr id="205" name="Google Shape;205;p23"/>
          <p:cNvCxnSpPr>
            <a:stCxn id="201" idx="4"/>
            <a:endCxn id="204" idx="0"/>
          </p:cNvCxnSpPr>
          <p:nvPr/>
        </p:nvCxnSpPr>
        <p:spPr>
          <a:xfrm flipH="1">
            <a:off x="4274475" y="933900"/>
            <a:ext cx="900" cy="541500"/>
          </a:xfrm>
          <a:prstGeom prst="straightConnector1">
            <a:avLst/>
          </a:prstGeom>
          <a:noFill/>
          <a:ln w="9525" cap="flat" cmpd="sng">
            <a:solidFill>
              <a:schemeClr val="dk1"/>
            </a:solidFill>
            <a:prstDash val="solid"/>
            <a:round/>
            <a:headEnd type="none" w="med" len="med"/>
            <a:tailEnd type="triangle" w="med" len="med"/>
          </a:ln>
        </p:spPr>
      </p:cxnSp>
      <p:sp>
        <p:nvSpPr>
          <p:cNvPr id="206" name="Google Shape;206;p23"/>
          <p:cNvSpPr txBox="1"/>
          <p:nvPr/>
        </p:nvSpPr>
        <p:spPr>
          <a:xfrm>
            <a:off x="4325850" y="1010100"/>
            <a:ext cx="1949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click “Help - -&gt; About”</a:t>
            </a:r>
            <a:endParaRPr i="1">
              <a:solidFill>
                <a:srgbClr val="000000"/>
              </a:solidFill>
            </a:endParaRPr>
          </a:p>
        </p:txBody>
      </p:sp>
      <p:sp>
        <p:nvSpPr>
          <p:cNvPr id="207" name="Google Shape;207;p23"/>
          <p:cNvSpPr/>
          <p:nvPr/>
        </p:nvSpPr>
        <p:spPr>
          <a:xfrm>
            <a:off x="535275" y="371400"/>
            <a:ext cx="17481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Name of Programmer</a:t>
            </a:r>
            <a:endParaRPr/>
          </a:p>
        </p:txBody>
      </p:sp>
      <p:sp>
        <p:nvSpPr>
          <p:cNvPr id="208" name="Google Shape;208;p23"/>
          <p:cNvSpPr/>
          <p:nvPr/>
        </p:nvSpPr>
        <p:spPr>
          <a:xfrm>
            <a:off x="153825" y="1347017"/>
            <a:ext cx="2117700" cy="918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Mention of Homework Assignment for CS 585</a:t>
            </a:r>
            <a:endParaRPr/>
          </a:p>
        </p:txBody>
      </p:sp>
      <p:sp>
        <p:nvSpPr>
          <p:cNvPr id="209" name="Google Shape;209;p23"/>
          <p:cNvSpPr/>
          <p:nvPr/>
        </p:nvSpPr>
        <p:spPr>
          <a:xfrm>
            <a:off x="1084934" y="3800400"/>
            <a:ext cx="11844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Other(s)</a:t>
            </a:r>
            <a:endParaRPr/>
          </a:p>
        </p:txBody>
      </p:sp>
      <p:sp>
        <p:nvSpPr>
          <p:cNvPr id="210" name="Google Shape;210;p23"/>
          <p:cNvSpPr/>
          <p:nvPr/>
        </p:nvSpPr>
        <p:spPr>
          <a:xfrm>
            <a:off x="228750" y="2733600"/>
            <a:ext cx="2054400" cy="7578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Release Date and Version Number</a:t>
            </a:r>
            <a:endParaRPr/>
          </a:p>
        </p:txBody>
      </p:sp>
      <p:sp>
        <p:nvSpPr>
          <p:cNvPr id="211" name="Google Shape;211;p23"/>
          <p:cNvSpPr/>
          <p:nvPr/>
        </p:nvSpPr>
        <p:spPr>
          <a:xfrm rot="5400000">
            <a:off x="3360266" y="1656801"/>
            <a:ext cx="208500" cy="301200"/>
          </a:xfrm>
          <a:prstGeom prst="diamond">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2" name="Google Shape;212;p23"/>
          <p:cNvCxnSpPr/>
          <p:nvPr/>
        </p:nvCxnSpPr>
        <p:spPr>
          <a:xfrm flipH="1">
            <a:off x="2916525" y="751466"/>
            <a:ext cx="14400" cy="3392400"/>
          </a:xfrm>
          <a:prstGeom prst="straightConnector1">
            <a:avLst/>
          </a:prstGeom>
          <a:noFill/>
          <a:ln w="9525" cap="flat" cmpd="sng">
            <a:solidFill>
              <a:schemeClr val="dk1"/>
            </a:solidFill>
            <a:prstDash val="solid"/>
            <a:round/>
            <a:headEnd type="none" w="med" len="med"/>
            <a:tailEnd type="none" w="med" len="med"/>
          </a:ln>
        </p:spPr>
      </p:cxnSp>
      <p:cxnSp>
        <p:nvCxnSpPr>
          <p:cNvPr id="213" name="Google Shape;213;p23"/>
          <p:cNvCxnSpPr>
            <a:stCxn id="207" idx="6"/>
          </p:cNvCxnSpPr>
          <p:nvPr/>
        </p:nvCxnSpPr>
        <p:spPr>
          <a:xfrm>
            <a:off x="2283375" y="750300"/>
            <a:ext cx="654900" cy="3900"/>
          </a:xfrm>
          <a:prstGeom prst="straightConnector1">
            <a:avLst/>
          </a:prstGeom>
          <a:noFill/>
          <a:ln w="9525" cap="flat" cmpd="sng">
            <a:solidFill>
              <a:schemeClr val="dk1"/>
            </a:solidFill>
            <a:prstDash val="solid"/>
            <a:round/>
            <a:headEnd type="none" w="med" len="med"/>
            <a:tailEnd type="none" w="med" len="med"/>
          </a:ln>
        </p:spPr>
      </p:cxnSp>
      <p:cxnSp>
        <p:nvCxnSpPr>
          <p:cNvPr id="214" name="Google Shape;214;p23"/>
          <p:cNvCxnSpPr/>
          <p:nvPr/>
        </p:nvCxnSpPr>
        <p:spPr>
          <a:xfrm>
            <a:off x="2276025" y="1803950"/>
            <a:ext cx="654900" cy="3900"/>
          </a:xfrm>
          <a:prstGeom prst="straightConnector1">
            <a:avLst/>
          </a:prstGeom>
          <a:noFill/>
          <a:ln w="9525" cap="flat" cmpd="sng">
            <a:solidFill>
              <a:schemeClr val="dk1"/>
            </a:solidFill>
            <a:prstDash val="solid"/>
            <a:round/>
            <a:headEnd type="none" w="med" len="med"/>
            <a:tailEnd type="none" w="med" len="med"/>
          </a:ln>
        </p:spPr>
      </p:cxnSp>
      <p:cxnSp>
        <p:nvCxnSpPr>
          <p:cNvPr id="215" name="Google Shape;215;p23"/>
          <p:cNvCxnSpPr/>
          <p:nvPr/>
        </p:nvCxnSpPr>
        <p:spPr>
          <a:xfrm>
            <a:off x="2276025" y="3132888"/>
            <a:ext cx="654900" cy="3900"/>
          </a:xfrm>
          <a:prstGeom prst="straightConnector1">
            <a:avLst/>
          </a:prstGeom>
          <a:noFill/>
          <a:ln w="9525" cap="flat" cmpd="sng">
            <a:solidFill>
              <a:schemeClr val="dk1"/>
            </a:solidFill>
            <a:prstDash val="solid"/>
            <a:round/>
            <a:headEnd type="none" w="med" len="med"/>
            <a:tailEnd type="none" w="med" len="med"/>
          </a:ln>
        </p:spPr>
      </p:cxnSp>
      <p:cxnSp>
        <p:nvCxnSpPr>
          <p:cNvPr id="216" name="Google Shape;216;p23"/>
          <p:cNvCxnSpPr/>
          <p:nvPr/>
        </p:nvCxnSpPr>
        <p:spPr>
          <a:xfrm>
            <a:off x="2268783" y="4143875"/>
            <a:ext cx="654900" cy="3900"/>
          </a:xfrm>
          <a:prstGeom prst="straightConnector1">
            <a:avLst/>
          </a:prstGeom>
          <a:noFill/>
          <a:ln w="9525" cap="flat" cmpd="sng">
            <a:solidFill>
              <a:schemeClr val="dk1"/>
            </a:solidFill>
            <a:prstDash val="solid"/>
            <a:round/>
            <a:headEnd type="none" w="med" len="med"/>
            <a:tailEnd type="none" w="med" len="med"/>
          </a:ln>
        </p:spPr>
      </p:cxnSp>
      <p:cxnSp>
        <p:nvCxnSpPr>
          <p:cNvPr id="217" name="Google Shape;217;p23"/>
          <p:cNvCxnSpPr/>
          <p:nvPr/>
        </p:nvCxnSpPr>
        <p:spPr>
          <a:xfrm>
            <a:off x="2925848" y="1806857"/>
            <a:ext cx="384000" cy="3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B15 Notes</a:t>
            </a:r>
            <a:endParaRPr/>
          </a:p>
        </p:txBody>
      </p:sp>
      <p:sp>
        <p:nvSpPr>
          <p:cNvPr id="223" name="Google Shape;223;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Notations include a COMPOSITION relation (i.e., the dark diamond).</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Sparkles: (1) composition; (2) making sure that “Other(s)” is a part of “Pop-up Window, due to “any other information you deem useful” in the requirement.</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Logical test cases: (1) “Browser” → …  → show the THREE mandatory items; (2) “Browser” → …. → show the THREE mandatory items </a:t>
            </a:r>
            <a:r>
              <a:rPr lang="en" b="1" i="1" u="sng">
                <a:solidFill>
                  <a:schemeClr val="dk1"/>
                </a:solidFill>
              </a:rPr>
              <a:t>AND</a:t>
            </a:r>
            <a:r>
              <a:rPr lang="en">
                <a:solidFill>
                  <a:schemeClr val="dk1"/>
                </a:solidFill>
              </a:rPr>
              <a:t> one optional item (e.g., Programming Language = C).</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cxnSp>
        <p:nvCxnSpPr>
          <p:cNvPr id="228" name="Google Shape;228;p25"/>
          <p:cNvCxnSpPr/>
          <p:nvPr/>
        </p:nvCxnSpPr>
        <p:spPr>
          <a:xfrm>
            <a:off x="4854250" y="1714993"/>
            <a:ext cx="0" cy="2807100"/>
          </a:xfrm>
          <a:prstGeom prst="straightConnector1">
            <a:avLst/>
          </a:prstGeom>
          <a:noFill/>
          <a:ln w="9525" cap="flat" cmpd="sng">
            <a:solidFill>
              <a:schemeClr val="dk1"/>
            </a:solidFill>
            <a:prstDash val="lgDash"/>
            <a:round/>
            <a:headEnd type="none" w="med" len="med"/>
            <a:tailEnd type="none" w="med" len="med"/>
          </a:ln>
        </p:spPr>
      </p:cxnSp>
      <p:sp>
        <p:nvSpPr>
          <p:cNvPr id="229" name="Google Shape;229;p25"/>
          <p:cNvSpPr/>
          <p:nvPr/>
        </p:nvSpPr>
        <p:spPr>
          <a:xfrm>
            <a:off x="4205800" y="1874525"/>
            <a:ext cx="1296900" cy="992400"/>
          </a:xfrm>
          <a:prstGeom prst="ellipse">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“Back” Button Clickable</a:t>
            </a:r>
            <a:endParaRPr/>
          </a:p>
        </p:txBody>
      </p:sp>
      <p:sp>
        <p:nvSpPr>
          <p:cNvPr id="230" name="Google Shape;230;p25"/>
          <p:cNvSpPr/>
          <p:nvPr/>
        </p:nvSpPr>
        <p:spPr>
          <a:xfrm>
            <a:off x="173725" y="413295"/>
            <a:ext cx="1242900" cy="5625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Browser</a:t>
            </a:r>
            <a:endParaRPr/>
          </a:p>
        </p:txBody>
      </p:sp>
      <p:cxnSp>
        <p:nvCxnSpPr>
          <p:cNvPr id="231" name="Google Shape;231;p25"/>
          <p:cNvCxnSpPr/>
          <p:nvPr/>
        </p:nvCxnSpPr>
        <p:spPr>
          <a:xfrm>
            <a:off x="267125" y="279961"/>
            <a:ext cx="237000" cy="165000"/>
          </a:xfrm>
          <a:prstGeom prst="straightConnector1">
            <a:avLst/>
          </a:prstGeom>
          <a:noFill/>
          <a:ln w="9525" cap="flat" cmpd="sng">
            <a:solidFill>
              <a:srgbClr val="000000"/>
            </a:solidFill>
            <a:prstDash val="solid"/>
            <a:round/>
            <a:headEnd type="none" w="med" len="med"/>
            <a:tailEnd type="triangle" w="med" len="med"/>
          </a:ln>
        </p:spPr>
      </p:cxnSp>
      <p:sp>
        <p:nvSpPr>
          <p:cNvPr id="232" name="Google Shape;232;p25"/>
          <p:cNvSpPr txBox="1"/>
          <p:nvPr/>
        </p:nvSpPr>
        <p:spPr>
          <a:xfrm>
            <a:off x="7705500" y="196250"/>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B16</a:t>
            </a:r>
            <a:endParaRPr sz="1800" b="1">
              <a:solidFill>
                <a:srgbClr val="0000FF"/>
              </a:solidFill>
              <a:latin typeface="Comic Sans MS"/>
              <a:ea typeface="Comic Sans MS"/>
              <a:cs typeface="Comic Sans MS"/>
              <a:sym typeface="Comic Sans MS"/>
            </a:endParaRPr>
          </a:p>
        </p:txBody>
      </p:sp>
      <p:sp>
        <p:nvSpPr>
          <p:cNvPr id="233" name="Google Shape;233;p25"/>
          <p:cNvSpPr txBox="1"/>
          <p:nvPr/>
        </p:nvSpPr>
        <p:spPr>
          <a:xfrm>
            <a:off x="3934800" y="2847725"/>
            <a:ext cx="1070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click</a:t>
            </a:r>
            <a:endParaRPr i="1">
              <a:solidFill>
                <a:srgbClr val="000000"/>
              </a:solidFill>
            </a:endParaRPr>
          </a:p>
        </p:txBody>
      </p:sp>
      <p:sp>
        <p:nvSpPr>
          <p:cNvPr id="234" name="Google Shape;234;p25"/>
          <p:cNvSpPr/>
          <p:nvPr/>
        </p:nvSpPr>
        <p:spPr>
          <a:xfrm>
            <a:off x="2027025" y="234425"/>
            <a:ext cx="2363100" cy="919800"/>
          </a:xfrm>
          <a:prstGeom prst="diamond">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Previous page exists?</a:t>
            </a:r>
            <a:endParaRPr/>
          </a:p>
        </p:txBody>
      </p:sp>
      <p:sp>
        <p:nvSpPr>
          <p:cNvPr id="235" name="Google Shape;235;p25"/>
          <p:cNvSpPr txBox="1"/>
          <p:nvPr/>
        </p:nvSpPr>
        <p:spPr>
          <a:xfrm>
            <a:off x="1239085" y="329484"/>
            <a:ext cx="923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check</a:t>
            </a:r>
            <a:endParaRPr i="1">
              <a:solidFill>
                <a:srgbClr val="000000"/>
              </a:solidFill>
            </a:endParaRPr>
          </a:p>
        </p:txBody>
      </p:sp>
      <p:sp>
        <p:nvSpPr>
          <p:cNvPr id="236" name="Google Shape;236;p25"/>
          <p:cNvSpPr/>
          <p:nvPr/>
        </p:nvSpPr>
        <p:spPr>
          <a:xfrm>
            <a:off x="5293043" y="1154213"/>
            <a:ext cx="14325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cxnSp>
        <p:nvCxnSpPr>
          <p:cNvPr id="237" name="Google Shape;237;p25"/>
          <p:cNvCxnSpPr>
            <a:stCxn id="234" idx="3"/>
            <a:endCxn id="236" idx="0"/>
          </p:cNvCxnSpPr>
          <p:nvPr/>
        </p:nvCxnSpPr>
        <p:spPr>
          <a:xfrm>
            <a:off x="4390125" y="694325"/>
            <a:ext cx="1619100" cy="459900"/>
          </a:xfrm>
          <a:prstGeom prst="bentConnector2">
            <a:avLst/>
          </a:prstGeom>
          <a:noFill/>
          <a:ln w="9525" cap="flat" cmpd="sng">
            <a:solidFill>
              <a:schemeClr val="dk1"/>
            </a:solidFill>
            <a:prstDash val="solid"/>
            <a:round/>
            <a:headEnd type="none" w="med" len="med"/>
            <a:tailEnd type="triangle" w="med" len="med"/>
          </a:ln>
        </p:spPr>
      </p:cxnSp>
      <p:sp>
        <p:nvSpPr>
          <p:cNvPr id="238" name="Google Shape;238;p25"/>
          <p:cNvSpPr txBox="1"/>
          <p:nvPr/>
        </p:nvSpPr>
        <p:spPr>
          <a:xfrm>
            <a:off x="4264012" y="370336"/>
            <a:ext cx="78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no</a:t>
            </a:r>
            <a:endParaRPr i="1">
              <a:solidFill>
                <a:srgbClr val="000000"/>
              </a:solidFill>
            </a:endParaRPr>
          </a:p>
        </p:txBody>
      </p:sp>
      <p:sp>
        <p:nvSpPr>
          <p:cNvPr id="239" name="Google Shape;239;p25"/>
          <p:cNvSpPr/>
          <p:nvPr/>
        </p:nvSpPr>
        <p:spPr>
          <a:xfrm>
            <a:off x="6956758" y="1006914"/>
            <a:ext cx="697500" cy="400200"/>
          </a:xfrm>
          <a:prstGeom prst="snip1Rect">
            <a:avLst>
              <a:gd name="adj" fmla="val 24059"/>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200"/>
              <a:t>XOR</a:t>
            </a:r>
            <a:endParaRPr sz="1200"/>
          </a:p>
        </p:txBody>
      </p:sp>
      <p:sp>
        <p:nvSpPr>
          <p:cNvPr id="240" name="Google Shape;240;p25"/>
          <p:cNvSpPr/>
          <p:nvPr/>
        </p:nvSpPr>
        <p:spPr>
          <a:xfrm>
            <a:off x="6263200" y="1874525"/>
            <a:ext cx="1296900" cy="9924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“Back” Button Disabled</a:t>
            </a:r>
            <a:endParaRPr/>
          </a:p>
        </p:txBody>
      </p:sp>
      <p:cxnSp>
        <p:nvCxnSpPr>
          <p:cNvPr id="241" name="Google Shape;241;p25"/>
          <p:cNvCxnSpPr>
            <a:stCxn id="230" idx="6"/>
            <a:endCxn id="234" idx="1"/>
          </p:cNvCxnSpPr>
          <p:nvPr/>
        </p:nvCxnSpPr>
        <p:spPr>
          <a:xfrm rot="10800000" flipH="1">
            <a:off x="1416625" y="694245"/>
            <a:ext cx="610500" cy="300"/>
          </a:xfrm>
          <a:prstGeom prst="straightConnector1">
            <a:avLst/>
          </a:prstGeom>
          <a:noFill/>
          <a:ln w="9525" cap="flat" cmpd="sng">
            <a:solidFill>
              <a:schemeClr val="dk1"/>
            </a:solidFill>
            <a:prstDash val="solid"/>
            <a:round/>
            <a:headEnd type="none" w="med" len="med"/>
            <a:tailEnd type="triangle" w="med" len="med"/>
          </a:ln>
        </p:spPr>
      </p:cxnSp>
      <p:cxnSp>
        <p:nvCxnSpPr>
          <p:cNvPr id="242" name="Google Shape;242;p25"/>
          <p:cNvCxnSpPr>
            <a:stCxn id="236" idx="2"/>
            <a:endCxn id="240" idx="0"/>
          </p:cNvCxnSpPr>
          <p:nvPr/>
        </p:nvCxnSpPr>
        <p:spPr>
          <a:xfrm>
            <a:off x="6009293" y="1259813"/>
            <a:ext cx="902400" cy="614700"/>
          </a:xfrm>
          <a:prstGeom prst="straightConnector1">
            <a:avLst/>
          </a:prstGeom>
          <a:noFill/>
          <a:ln w="9525" cap="flat" cmpd="sng">
            <a:solidFill>
              <a:schemeClr val="dk1"/>
            </a:solidFill>
            <a:prstDash val="solid"/>
            <a:round/>
            <a:headEnd type="none" w="med" len="med"/>
            <a:tailEnd type="triangle" w="med" len="med"/>
          </a:ln>
        </p:spPr>
      </p:cxnSp>
      <p:cxnSp>
        <p:nvCxnSpPr>
          <p:cNvPr id="243" name="Google Shape;243;p25"/>
          <p:cNvCxnSpPr>
            <a:stCxn id="236" idx="2"/>
            <a:endCxn id="229" idx="0"/>
          </p:cNvCxnSpPr>
          <p:nvPr/>
        </p:nvCxnSpPr>
        <p:spPr>
          <a:xfrm flipH="1">
            <a:off x="4854293" y="1259813"/>
            <a:ext cx="1155000" cy="614700"/>
          </a:xfrm>
          <a:prstGeom prst="straightConnector1">
            <a:avLst/>
          </a:prstGeom>
          <a:noFill/>
          <a:ln w="9525" cap="flat" cmpd="sng">
            <a:solidFill>
              <a:schemeClr val="dk1"/>
            </a:solidFill>
            <a:prstDash val="solid"/>
            <a:round/>
            <a:headEnd type="none" w="med" len="med"/>
            <a:tailEnd type="triangle" w="med" len="med"/>
          </a:ln>
        </p:spPr>
      </p:cxnSp>
      <p:sp>
        <p:nvSpPr>
          <p:cNvPr id="244" name="Google Shape;244;p25"/>
          <p:cNvSpPr txBox="1"/>
          <p:nvPr/>
        </p:nvSpPr>
        <p:spPr>
          <a:xfrm>
            <a:off x="5417549" y="3706100"/>
            <a:ext cx="1296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do nothing</a:t>
            </a:r>
            <a:endParaRPr i="1">
              <a:solidFill>
                <a:srgbClr val="000000"/>
              </a:solidFill>
            </a:endParaRPr>
          </a:p>
        </p:txBody>
      </p:sp>
      <p:sp>
        <p:nvSpPr>
          <p:cNvPr id="245" name="Google Shape;245;p25"/>
          <p:cNvSpPr/>
          <p:nvPr/>
        </p:nvSpPr>
        <p:spPr>
          <a:xfrm>
            <a:off x="4150043" y="3211613"/>
            <a:ext cx="14325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cxnSp>
        <p:nvCxnSpPr>
          <p:cNvPr id="246" name="Google Shape;246;p25"/>
          <p:cNvCxnSpPr>
            <a:stCxn id="229" idx="4"/>
            <a:endCxn id="245" idx="0"/>
          </p:cNvCxnSpPr>
          <p:nvPr/>
        </p:nvCxnSpPr>
        <p:spPr>
          <a:xfrm>
            <a:off x="4854250" y="2866925"/>
            <a:ext cx="12000" cy="344700"/>
          </a:xfrm>
          <a:prstGeom prst="straightConnector1">
            <a:avLst/>
          </a:prstGeom>
          <a:noFill/>
          <a:ln w="9525" cap="flat" cmpd="sng">
            <a:solidFill>
              <a:schemeClr val="dk1"/>
            </a:solidFill>
            <a:prstDash val="solid"/>
            <a:round/>
            <a:headEnd type="none" w="med" len="med"/>
            <a:tailEnd type="triangle" w="med" len="med"/>
          </a:ln>
        </p:spPr>
      </p:cxnSp>
      <p:sp>
        <p:nvSpPr>
          <p:cNvPr id="247" name="Google Shape;247;p25"/>
          <p:cNvSpPr/>
          <p:nvPr/>
        </p:nvSpPr>
        <p:spPr>
          <a:xfrm>
            <a:off x="5173575" y="2576175"/>
            <a:ext cx="934950" cy="1080775"/>
          </a:xfrm>
          <a:custGeom>
            <a:avLst/>
            <a:gdLst/>
            <a:ahLst/>
            <a:cxnLst/>
            <a:rect l="l" t="t" r="r" b="b"/>
            <a:pathLst>
              <a:path w="37398" h="43231" extrusionOk="0">
                <a:moveTo>
                  <a:pt x="0" y="30008"/>
                </a:moveTo>
                <a:cubicBezTo>
                  <a:pt x="5379" y="32179"/>
                  <a:pt x="26422" y="44635"/>
                  <a:pt x="32273" y="43031"/>
                </a:cubicBezTo>
                <a:cubicBezTo>
                  <a:pt x="38124" y="41427"/>
                  <a:pt x="38596" y="27555"/>
                  <a:pt x="35104" y="20383"/>
                </a:cubicBezTo>
                <a:cubicBezTo>
                  <a:pt x="31613" y="13211"/>
                  <a:pt x="15287" y="3397"/>
                  <a:pt x="11324" y="0"/>
                </a:cubicBezTo>
              </a:path>
            </a:pathLst>
          </a:custGeom>
          <a:noFill/>
          <a:ln w="9525" cap="flat" cmpd="sng">
            <a:solidFill>
              <a:schemeClr val="dk1"/>
            </a:solidFill>
            <a:prstDash val="solid"/>
            <a:round/>
            <a:headEnd type="none" w="med" len="med"/>
            <a:tailEnd type="triangle" w="med" len="med"/>
          </a:ln>
        </p:spPr>
        <p:txBody>
          <a:bodyPr/>
          <a:lstStyle/>
          <a:p>
            <a:endParaRPr lang="en-US"/>
          </a:p>
        </p:txBody>
      </p:sp>
      <p:sp>
        <p:nvSpPr>
          <p:cNvPr id="248" name="Google Shape;248;p25"/>
          <p:cNvSpPr/>
          <p:nvPr/>
        </p:nvSpPr>
        <p:spPr>
          <a:xfrm>
            <a:off x="2652375" y="3717275"/>
            <a:ext cx="1995900" cy="8607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Current Page = Previous Page</a:t>
            </a:r>
            <a:endParaRPr/>
          </a:p>
        </p:txBody>
      </p:sp>
      <p:sp>
        <p:nvSpPr>
          <p:cNvPr id="249" name="Google Shape;249;p25"/>
          <p:cNvSpPr/>
          <p:nvPr/>
        </p:nvSpPr>
        <p:spPr>
          <a:xfrm>
            <a:off x="771425" y="3717275"/>
            <a:ext cx="1743300" cy="8607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Update History Stack</a:t>
            </a:r>
            <a:endParaRPr/>
          </a:p>
        </p:txBody>
      </p:sp>
      <p:cxnSp>
        <p:nvCxnSpPr>
          <p:cNvPr id="250" name="Google Shape;250;p25"/>
          <p:cNvCxnSpPr>
            <a:endCxn id="248" idx="7"/>
          </p:cNvCxnSpPr>
          <p:nvPr/>
        </p:nvCxnSpPr>
        <p:spPr>
          <a:xfrm flipH="1">
            <a:off x="4355982" y="3326422"/>
            <a:ext cx="272700" cy="516900"/>
          </a:xfrm>
          <a:prstGeom prst="straightConnector1">
            <a:avLst/>
          </a:prstGeom>
          <a:noFill/>
          <a:ln w="9525" cap="flat" cmpd="sng">
            <a:solidFill>
              <a:schemeClr val="dk1"/>
            </a:solidFill>
            <a:prstDash val="solid"/>
            <a:round/>
            <a:headEnd type="none" w="med" len="med"/>
            <a:tailEnd type="triangle" w="med" len="med"/>
          </a:ln>
        </p:spPr>
      </p:cxnSp>
      <p:cxnSp>
        <p:nvCxnSpPr>
          <p:cNvPr id="251" name="Google Shape;251;p25"/>
          <p:cNvCxnSpPr>
            <a:endCxn id="249" idx="7"/>
          </p:cNvCxnSpPr>
          <p:nvPr/>
        </p:nvCxnSpPr>
        <p:spPr>
          <a:xfrm flipH="1">
            <a:off x="2259425" y="3326422"/>
            <a:ext cx="2029500" cy="516900"/>
          </a:xfrm>
          <a:prstGeom prst="curvedConnector2">
            <a:avLst/>
          </a:prstGeom>
          <a:noFill/>
          <a:ln w="9525" cap="flat" cmpd="sng">
            <a:solidFill>
              <a:schemeClr val="dk1"/>
            </a:solidFill>
            <a:prstDash val="solid"/>
            <a:round/>
            <a:headEnd type="none" w="med" len="med"/>
            <a:tailEnd type="triangle" w="med" len="med"/>
          </a:ln>
        </p:spPr>
      </p:cxnSp>
      <p:cxnSp>
        <p:nvCxnSpPr>
          <p:cNvPr id="252" name="Google Shape;252;p25"/>
          <p:cNvCxnSpPr>
            <a:stCxn id="234" idx="2"/>
            <a:endCxn id="229" idx="0"/>
          </p:cNvCxnSpPr>
          <p:nvPr/>
        </p:nvCxnSpPr>
        <p:spPr>
          <a:xfrm>
            <a:off x="3208575" y="1154225"/>
            <a:ext cx="1645800" cy="720300"/>
          </a:xfrm>
          <a:prstGeom prst="straightConnector1">
            <a:avLst/>
          </a:prstGeom>
          <a:noFill/>
          <a:ln w="9525" cap="flat" cmpd="sng">
            <a:solidFill>
              <a:schemeClr val="dk1"/>
            </a:solidFill>
            <a:prstDash val="solid"/>
            <a:round/>
            <a:headEnd type="none" w="med" len="med"/>
            <a:tailEnd type="triangle" w="med" len="med"/>
          </a:ln>
        </p:spPr>
      </p:cxnSp>
      <p:sp>
        <p:nvSpPr>
          <p:cNvPr id="253" name="Google Shape;253;p25"/>
          <p:cNvSpPr txBox="1"/>
          <p:nvPr/>
        </p:nvSpPr>
        <p:spPr>
          <a:xfrm>
            <a:off x="3028737" y="1211694"/>
            <a:ext cx="78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yes</a:t>
            </a:r>
            <a:endParaRPr i="1">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B16 Notes</a:t>
            </a:r>
            <a:endParaRPr/>
          </a:p>
        </p:txBody>
      </p:sp>
      <p:sp>
        <p:nvSpPr>
          <p:cNvPr id="259" name="Google Shape;259;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Notations include a swimlane (that is, dotted line), showing SEPARATE actions of the “no” side of “Back” button click, and the “yes” side of the “Back” button click.</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Sparkles: (1) having the conditional check </a:t>
            </a:r>
            <a:r>
              <a:rPr lang="en" b="1" i="1" u="sng">
                <a:solidFill>
                  <a:schemeClr val="dk1"/>
                </a:solidFill>
              </a:rPr>
              <a:t>BEFORE</a:t>
            </a:r>
            <a:r>
              <a:rPr lang="en">
                <a:solidFill>
                  <a:schemeClr val="dk1"/>
                </a:solidFill>
              </a:rPr>
              <a:t> any potential “Back” button click, because that button might be disabled; (2) a split of XOR (exclusive OR) after the “no” branch of the condition check; (3) a swimlane so that the “Back” button click can be minimally defined (as opposed to repeatedly defined); (4) a split of AND on the “yes” branch after the button click; and (5) make sure that “Update History Stack” is explicitly modeled.</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Logical test cases – please see next slide.</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B16 Notes (Cont’d)</a:t>
            </a:r>
            <a:endParaRPr/>
          </a:p>
        </p:txBody>
      </p:sp>
      <p:sp>
        <p:nvSpPr>
          <p:cNvPr id="265" name="Google Shape;265;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Logical test cases:</a:t>
            </a:r>
            <a:endParaRPr>
              <a:solidFill>
                <a:schemeClr val="dk1"/>
              </a:solidFill>
            </a:endParaRPr>
          </a:p>
          <a:p>
            <a:pPr marL="914400" lvl="0" indent="-317500" algn="l" rtl="0">
              <a:spcBef>
                <a:spcPts val="0"/>
              </a:spcBef>
              <a:spcAft>
                <a:spcPts val="0"/>
              </a:spcAft>
              <a:buClr>
                <a:schemeClr val="dk1"/>
              </a:buClr>
              <a:buSzPts val="1400"/>
              <a:buAutoNum type="arabicPeriod"/>
            </a:pPr>
            <a:r>
              <a:rPr lang="en" sz="1400">
                <a:solidFill>
                  <a:schemeClr val="dk1"/>
                </a:solidFill>
              </a:rPr>
              <a:t>“Browser” → (check) … → (no) → “Back” Button Disabled</a:t>
            </a:r>
            <a:endParaRPr sz="1400">
              <a:solidFill>
                <a:schemeClr val="dk1"/>
              </a:solidFill>
            </a:endParaRPr>
          </a:p>
          <a:p>
            <a:pPr marL="914400" lvl="0" indent="-317500" algn="l" rtl="0">
              <a:spcBef>
                <a:spcPts val="0"/>
              </a:spcBef>
              <a:spcAft>
                <a:spcPts val="0"/>
              </a:spcAft>
              <a:buClr>
                <a:schemeClr val="dk1"/>
              </a:buClr>
              <a:buSzPts val="1400"/>
              <a:buAutoNum type="arabicPeriod"/>
            </a:pPr>
            <a:r>
              <a:rPr lang="en" sz="1400">
                <a:solidFill>
                  <a:schemeClr val="dk1"/>
                </a:solidFill>
              </a:rPr>
              <a:t>“Browser” → (check) … → (no) → “Back” Button Clickable → (click) → (do nothing) → “Back” Button Clickable</a:t>
            </a:r>
            <a:endParaRPr sz="1400">
              <a:solidFill>
                <a:schemeClr val="dk1"/>
              </a:solidFill>
            </a:endParaRPr>
          </a:p>
          <a:p>
            <a:pPr marL="2286000" lvl="1" indent="-317500" algn="l" rtl="0">
              <a:spcBef>
                <a:spcPts val="0"/>
              </a:spcBef>
              <a:spcAft>
                <a:spcPts val="0"/>
              </a:spcAft>
              <a:buClr>
                <a:schemeClr val="dk1"/>
              </a:buClr>
              <a:buSzPts val="1400"/>
              <a:buAutoNum type="alphaLcPeriod"/>
            </a:pPr>
            <a:r>
              <a:rPr lang="en">
                <a:solidFill>
                  <a:schemeClr val="dk1"/>
                </a:solidFill>
              </a:rPr>
              <a:t>Note that #2 test case forms a LOOP, but we’ll treat #2 as ONE test case, rather than an infinite number of test cases</a:t>
            </a:r>
            <a:endParaRPr sz="1400">
              <a:solidFill>
                <a:schemeClr val="dk1"/>
              </a:solidFill>
            </a:endParaRPr>
          </a:p>
          <a:p>
            <a:pPr marL="914400" lvl="0" indent="-317500" algn="l" rtl="0">
              <a:spcBef>
                <a:spcPts val="0"/>
              </a:spcBef>
              <a:spcAft>
                <a:spcPts val="0"/>
              </a:spcAft>
              <a:buClr>
                <a:schemeClr val="dk1"/>
              </a:buClr>
              <a:buSzPts val="1400"/>
              <a:buAutoNum type="arabicPeriod"/>
            </a:pPr>
            <a:r>
              <a:rPr lang="en" sz="1400">
                <a:solidFill>
                  <a:schemeClr val="dk1"/>
                </a:solidFill>
              </a:rPr>
              <a:t>“Browser” → (check) … → (yes) → “Back” Button Clickable → (click) … → Do TWO things</a:t>
            </a:r>
            <a:endParaRPr sz="1400">
              <a:solidFill>
                <a:schemeClr val="dk1"/>
              </a:solidFill>
            </a:endParaRPr>
          </a:p>
          <a:p>
            <a:pPr marL="0" lvl="0" indent="0" algn="l" rtl="0">
              <a:spcBef>
                <a:spcPts val="1200"/>
              </a:spcBef>
              <a:spcAft>
                <a:spcPts val="1200"/>
              </a:spcAft>
              <a:buNone/>
            </a:pP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8"/>
          <p:cNvSpPr/>
          <p:nvPr/>
        </p:nvSpPr>
        <p:spPr>
          <a:xfrm>
            <a:off x="3694738" y="1057200"/>
            <a:ext cx="1242900" cy="5625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Browser</a:t>
            </a:r>
            <a:endParaRPr/>
          </a:p>
        </p:txBody>
      </p:sp>
      <p:cxnSp>
        <p:nvCxnSpPr>
          <p:cNvPr id="271" name="Google Shape;271;p28"/>
          <p:cNvCxnSpPr/>
          <p:nvPr/>
        </p:nvCxnSpPr>
        <p:spPr>
          <a:xfrm>
            <a:off x="3788138" y="923865"/>
            <a:ext cx="237000" cy="165000"/>
          </a:xfrm>
          <a:prstGeom prst="straightConnector1">
            <a:avLst/>
          </a:prstGeom>
          <a:noFill/>
          <a:ln w="9525" cap="flat" cmpd="sng">
            <a:solidFill>
              <a:srgbClr val="000000"/>
            </a:solidFill>
            <a:prstDash val="solid"/>
            <a:round/>
            <a:headEnd type="none" w="med" len="med"/>
            <a:tailEnd type="triangle" w="med" len="med"/>
          </a:ln>
        </p:spPr>
      </p:cxnSp>
      <p:sp>
        <p:nvSpPr>
          <p:cNvPr id="272" name="Google Shape;272;p28"/>
          <p:cNvSpPr txBox="1"/>
          <p:nvPr/>
        </p:nvSpPr>
        <p:spPr>
          <a:xfrm>
            <a:off x="7415350" y="178600"/>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B19</a:t>
            </a:r>
            <a:endParaRPr sz="1800" b="1">
              <a:solidFill>
                <a:srgbClr val="0000FF"/>
              </a:solidFill>
              <a:latin typeface="Comic Sans MS"/>
              <a:ea typeface="Comic Sans MS"/>
              <a:cs typeface="Comic Sans MS"/>
              <a:sym typeface="Comic Sans MS"/>
            </a:endParaRPr>
          </a:p>
        </p:txBody>
      </p:sp>
      <p:sp>
        <p:nvSpPr>
          <p:cNvPr id="273" name="Google Shape;273;p28"/>
          <p:cNvSpPr txBox="1"/>
          <p:nvPr/>
        </p:nvSpPr>
        <p:spPr>
          <a:xfrm>
            <a:off x="4249650" y="1619700"/>
            <a:ext cx="2426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click “Toolbar - -&gt; Reload”</a:t>
            </a:r>
            <a:endParaRPr i="1">
              <a:solidFill>
                <a:srgbClr val="000000"/>
              </a:solidFill>
            </a:endParaRPr>
          </a:p>
        </p:txBody>
      </p:sp>
      <p:sp>
        <p:nvSpPr>
          <p:cNvPr id="274" name="Google Shape;274;p28"/>
          <p:cNvSpPr/>
          <p:nvPr/>
        </p:nvSpPr>
        <p:spPr>
          <a:xfrm>
            <a:off x="3604720" y="2099351"/>
            <a:ext cx="14325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sp>
        <p:nvSpPr>
          <p:cNvPr id="275" name="Google Shape;275;p28"/>
          <p:cNvSpPr/>
          <p:nvPr/>
        </p:nvSpPr>
        <p:spPr>
          <a:xfrm>
            <a:off x="2158600" y="2752825"/>
            <a:ext cx="2021100" cy="7977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Keeping History Stack Unchanged</a:t>
            </a:r>
            <a:endParaRPr/>
          </a:p>
        </p:txBody>
      </p:sp>
      <p:sp>
        <p:nvSpPr>
          <p:cNvPr id="276" name="Google Shape;276;p28"/>
          <p:cNvSpPr/>
          <p:nvPr/>
        </p:nvSpPr>
        <p:spPr>
          <a:xfrm>
            <a:off x="4358200" y="2752825"/>
            <a:ext cx="2153100" cy="7977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Downloading Current Page Again</a:t>
            </a:r>
            <a:endParaRPr/>
          </a:p>
        </p:txBody>
      </p:sp>
      <p:cxnSp>
        <p:nvCxnSpPr>
          <p:cNvPr id="277" name="Google Shape;277;p28"/>
          <p:cNvCxnSpPr>
            <a:stCxn id="274" idx="2"/>
            <a:endCxn id="275" idx="0"/>
          </p:cNvCxnSpPr>
          <p:nvPr/>
        </p:nvCxnSpPr>
        <p:spPr>
          <a:xfrm flipH="1">
            <a:off x="3169270" y="2204951"/>
            <a:ext cx="1151700" cy="547800"/>
          </a:xfrm>
          <a:prstGeom prst="straightConnector1">
            <a:avLst/>
          </a:prstGeom>
          <a:noFill/>
          <a:ln w="9525" cap="flat" cmpd="sng">
            <a:solidFill>
              <a:srgbClr val="000000"/>
            </a:solidFill>
            <a:prstDash val="solid"/>
            <a:round/>
            <a:headEnd type="none" w="med" len="med"/>
            <a:tailEnd type="triangle" w="med" len="med"/>
          </a:ln>
        </p:spPr>
      </p:cxnSp>
      <p:cxnSp>
        <p:nvCxnSpPr>
          <p:cNvPr id="278" name="Google Shape;278;p28"/>
          <p:cNvCxnSpPr>
            <a:stCxn id="274" idx="2"/>
            <a:endCxn id="276" idx="0"/>
          </p:cNvCxnSpPr>
          <p:nvPr/>
        </p:nvCxnSpPr>
        <p:spPr>
          <a:xfrm>
            <a:off x="4320970" y="2204951"/>
            <a:ext cx="1113900" cy="547800"/>
          </a:xfrm>
          <a:prstGeom prst="straightConnector1">
            <a:avLst/>
          </a:prstGeom>
          <a:noFill/>
          <a:ln w="9525" cap="flat" cmpd="sng">
            <a:solidFill>
              <a:srgbClr val="000000"/>
            </a:solidFill>
            <a:prstDash val="solid"/>
            <a:round/>
            <a:headEnd type="none" w="med" len="med"/>
            <a:tailEnd type="triangle" w="med" len="med"/>
          </a:ln>
        </p:spPr>
      </p:cxnSp>
      <p:cxnSp>
        <p:nvCxnSpPr>
          <p:cNvPr id="279" name="Google Shape;279;p28"/>
          <p:cNvCxnSpPr>
            <a:stCxn id="270" idx="4"/>
            <a:endCxn id="274" idx="0"/>
          </p:cNvCxnSpPr>
          <p:nvPr/>
        </p:nvCxnSpPr>
        <p:spPr>
          <a:xfrm>
            <a:off x="4316188" y="1619700"/>
            <a:ext cx="4800" cy="4797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B19 Notes</a:t>
            </a:r>
            <a:endParaRPr/>
          </a:p>
        </p:txBody>
      </p:sp>
      <p:sp>
        <p:nvSpPr>
          <p:cNvPr id="285" name="Google Shape;285;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Sparkles: (1) split; (2) make sure that “Keeping History Stack Unchanged” is explicitly modeled.</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Logical test cases: (1) “Browser” → (click …) → do the TWO things.</a:t>
            </a:r>
            <a:endParaRPr>
              <a:solidFill>
                <a:schemeClr val="dk1"/>
              </a:solidFill>
            </a:endParaRPr>
          </a:p>
          <a:p>
            <a:pPr marL="914400" lvl="1" indent="-323850" algn="l" rtl="0">
              <a:spcBef>
                <a:spcPts val="0"/>
              </a:spcBef>
              <a:spcAft>
                <a:spcPts val="0"/>
              </a:spcAft>
              <a:buClr>
                <a:schemeClr val="dk1"/>
              </a:buClr>
              <a:buSzPts val="1500"/>
              <a:buChar char="○"/>
            </a:pPr>
            <a:r>
              <a:rPr lang="en" sz="1500">
                <a:solidFill>
                  <a:schemeClr val="dk1"/>
                </a:solidFill>
              </a:rPr>
              <a:t>There should be at least another test case (see the note below); however, as of now, we’ll define ONE and only ONE logical test case for B19.</a:t>
            </a:r>
            <a:endParaRPr sz="1500">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This requirement is less correct; in particular, it misses an important CONDITIONAL check, namely, “if the current page no longer exists, then “Reload” might be disabled or some error message (e.g., 404 not found) might be displayed after “Reload” is pressed.”</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0"/>
          <p:cNvSpPr/>
          <p:nvPr/>
        </p:nvSpPr>
        <p:spPr>
          <a:xfrm>
            <a:off x="1457538" y="222350"/>
            <a:ext cx="1242900" cy="5625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Browser</a:t>
            </a:r>
            <a:endParaRPr/>
          </a:p>
        </p:txBody>
      </p:sp>
      <p:cxnSp>
        <p:nvCxnSpPr>
          <p:cNvPr id="291" name="Google Shape;291;p30"/>
          <p:cNvCxnSpPr/>
          <p:nvPr/>
        </p:nvCxnSpPr>
        <p:spPr>
          <a:xfrm>
            <a:off x="1550938" y="89015"/>
            <a:ext cx="237000" cy="165000"/>
          </a:xfrm>
          <a:prstGeom prst="straightConnector1">
            <a:avLst/>
          </a:prstGeom>
          <a:noFill/>
          <a:ln w="9525" cap="flat" cmpd="sng">
            <a:solidFill>
              <a:srgbClr val="000000"/>
            </a:solidFill>
            <a:prstDash val="solid"/>
            <a:round/>
            <a:headEnd type="none" w="med" len="med"/>
            <a:tailEnd type="triangle" w="med" len="med"/>
          </a:ln>
        </p:spPr>
      </p:cxnSp>
      <p:sp>
        <p:nvSpPr>
          <p:cNvPr id="292" name="Google Shape;292;p30"/>
          <p:cNvSpPr txBox="1"/>
          <p:nvPr/>
        </p:nvSpPr>
        <p:spPr>
          <a:xfrm>
            <a:off x="7415350" y="178600"/>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B20</a:t>
            </a:r>
            <a:endParaRPr sz="1800" b="1">
              <a:solidFill>
                <a:srgbClr val="0000FF"/>
              </a:solidFill>
              <a:latin typeface="Comic Sans MS"/>
              <a:ea typeface="Comic Sans MS"/>
              <a:cs typeface="Comic Sans MS"/>
              <a:sym typeface="Comic Sans MS"/>
            </a:endParaRPr>
          </a:p>
        </p:txBody>
      </p:sp>
      <p:sp>
        <p:nvSpPr>
          <p:cNvPr id="293" name="Google Shape;293;p30"/>
          <p:cNvSpPr txBox="1"/>
          <p:nvPr/>
        </p:nvSpPr>
        <p:spPr>
          <a:xfrm>
            <a:off x="4762600" y="4570925"/>
            <a:ext cx="2426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click “Back” button</a:t>
            </a:r>
            <a:endParaRPr i="1">
              <a:solidFill>
                <a:srgbClr val="000000"/>
              </a:solidFill>
            </a:endParaRPr>
          </a:p>
        </p:txBody>
      </p:sp>
      <p:sp>
        <p:nvSpPr>
          <p:cNvPr id="294" name="Google Shape;294;p30"/>
          <p:cNvSpPr/>
          <p:nvPr/>
        </p:nvSpPr>
        <p:spPr>
          <a:xfrm>
            <a:off x="5344446" y="2322801"/>
            <a:ext cx="14325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sp>
        <p:nvSpPr>
          <p:cNvPr id="295" name="Google Shape;295;p30"/>
          <p:cNvSpPr/>
          <p:nvPr/>
        </p:nvSpPr>
        <p:spPr>
          <a:xfrm>
            <a:off x="3340400" y="2823875"/>
            <a:ext cx="1889400" cy="10902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Pushing “current” Document into the “Back” Stack</a:t>
            </a:r>
            <a:endParaRPr/>
          </a:p>
        </p:txBody>
      </p:sp>
      <p:sp>
        <p:nvSpPr>
          <p:cNvPr id="296" name="Google Shape;296;p30"/>
          <p:cNvSpPr/>
          <p:nvPr/>
        </p:nvSpPr>
        <p:spPr>
          <a:xfrm>
            <a:off x="6887600" y="2823875"/>
            <a:ext cx="2049000" cy="10902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Showing an Error Message in the HTML Display Zone</a:t>
            </a:r>
            <a:endParaRPr/>
          </a:p>
        </p:txBody>
      </p:sp>
      <p:cxnSp>
        <p:nvCxnSpPr>
          <p:cNvPr id="297" name="Google Shape;297;p30"/>
          <p:cNvCxnSpPr>
            <a:stCxn id="294" idx="2"/>
            <a:endCxn id="295" idx="0"/>
          </p:cNvCxnSpPr>
          <p:nvPr/>
        </p:nvCxnSpPr>
        <p:spPr>
          <a:xfrm flipH="1">
            <a:off x="4284996" y="2428401"/>
            <a:ext cx="1775700" cy="395400"/>
          </a:xfrm>
          <a:prstGeom prst="straightConnector1">
            <a:avLst/>
          </a:prstGeom>
          <a:noFill/>
          <a:ln w="9525" cap="flat" cmpd="sng">
            <a:solidFill>
              <a:srgbClr val="000000"/>
            </a:solidFill>
            <a:prstDash val="solid"/>
            <a:round/>
            <a:headEnd type="none" w="med" len="med"/>
            <a:tailEnd type="triangle" w="med" len="med"/>
          </a:ln>
        </p:spPr>
      </p:cxnSp>
      <p:cxnSp>
        <p:nvCxnSpPr>
          <p:cNvPr id="298" name="Google Shape;298;p30"/>
          <p:cNvCxnSpPr>
            <a:stCxn id="294" idx="2"/>
            <a:endCxn id="296" idx="0"/>
          </p:cNvCxnSpPr>
          <p:nvPr/>
        </p:nvCxnSpPr>
        <p:spPr>
          <a:xfrm>
            <a:off x="6060696" y="2428401"/>
            <a:ext cx="1851300" cy="395400"/>
          </a:xfrm>
          <a:prstGeom prst="straightConnector1">
            <a:avLst/>
          </a:prstGeom>
          <a:noFill/>
          <a:ln w="9525" cap="flat" cmpd="sng">
            <a:solidFill>
              <a:srgbClr val="000000"/>
            </a:solidFill>
            <a:prstDash val="solid"/>
            <a:round/>
            <a:headEnd type="none" w="med" len="med"/>
            <a:tailEnd type="triangle" w="med" len="med"/>
          </a:ln>
        </p:spPr>
      </p:cxnSp>
      <p:sp>
        <p:nvSpPr>
          <p:cNvPr id="299" name="Google Shape;299;p30"/>
          <p:cNvSpPr/>
          <p:nvPr/>
        </p:nvSpPr>
        <p:spPr>
          <a:xfrm>
            <a:off x="726825" y="1453625"/>
            <a:ext cx="2687100" cy="993000"/>
          </a:xfrm>
          <a:prstGeom prst="diamond">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To-be-opened resource is a valid URL?</a:t>
            </a:r>
            <a:endParaRPr/>
          </a:p>
        </p:txBody>
      </p:sp>
      <p:sp>
        <p:nvSpPr>
          <p:cNvPr id="300" name="Google Shape;300;p30"/>
          <p:cNvSpPr/>
          <p:nvPr/>
        </p:nvSpPr>
        <p:spPr>
          <a:xfrm>
            <a:off x="1418227" y="774300"/>
            <a:ext cx="432050" cy="783000"/>
          </a:xfrm>
          <a:custGeom>
            <a:avLst/>
            <a:gdLst/>
            <a:ahLst/>
            <a:cxnLst/>
            <a:rect l="l" t="t" r="r" b="b"/>
            <a:pathLst>
              <a:path w="17282" h="31320" extrusionOk="0">
                <a:moveTo>
                  <a:pt x="17283" y="0"/>
                </a:moveTo>
                <a:cubicBezTo>
                  <a:pt x="14410" y="2634"/>
                  <a:pt x="377" y="10584"/>
                  <a:pt x="42" y="15804"/>
                </a:cubicBezTo>
                <a:cubicBezTo>
                  <a:pt x="-293" y="21024"/>
                  <a:pt x="12733" y="28734"/>
                  <a:pt x="15271" y="31320"/>
                </a:cubicBezTo>
              </a:path>
            </a:pathLst>
          </a:custGeom>
          <a:noFill/>
          <a:ln w="9525" cap="flat" cmpd="sng">
            <a:solidFill>
              <a:schemeClr val="dk1"/>
            </a:solidFill>
            <a:prstDash val="solid"/>
            <a:round/>
            <a:headEnd type="none" w="med" len="med"/>
            <a:tailEnd type="triangle" w="med" len="med"/>
          </a:ln>
        </p:spPr>
        <p:txBody>
          <a:bodyPr/>
          <a:lstStyle/>
          <a:p>
            <a:endParaRPr lang="en-US"/>
          </a:p>
        </p:txBody>
      </p:sp>
      <p:sp>
        <p:nvSpPr>
          <p:cNvPr id="301" name="Google Shape;301;p30"/>
          <p:cNvSpPr/>
          <p:nvPr/>
        </p:nvSpPr>
        <p:spPr>
          <a:xfrm flipH="1">
            <a:off x="2318260" y="774300"/>
            <a:ext cx="432050" cy="783000"/>
          </a:xfrm>
          <a:custGeom>
            <a:avLst/>
            <a:gdLst/>
            <a:ahLst/>
            <a:cxnLst/>
            <a:rect l="l" t="t" r="r" b="b"/>
            <a:pathLst>
              <a:path w="17282" h="31320" extrusionOk="0">
                <a:moveTo>
                  <a:pt x="17283" y="0"/>
                </a:moveTo>
                <a:cubicBezTo>
                  <a:pt x="14410" y="2634"/>
                  <a:pt x="377" y="10584"/>
                  <a:pt x="42" y="15804"/>
                </a:cubicBezTo>
                <a:cubicBezTo>
                  <a:pt x="-293" y="21024"/>
                  <a:pt x="12733" y="28734"/>
                  <a:pt x="15271" y="31320"/>
                </a:cubicBezTo>
              </a:path>
            </a:pathLst>
          </a:custGeom>
          <a:noFill/>
          <a:ln w="9525" cap="flat" cmpd="sng">
            <a:solidFill>
              <a:schemeClr val="dk1"/>
            </a:solidFill>
            <a:prstDash val="solid"/>
            <a:round/>
            <a:headEnd type="none" w="med" len="med"/>
            <a:tailEnd type="triangle" w="med" len="med"/>
          </a:ln>
        </p:spPr>
        <p:txBody>
          <a:bodyPr/>
          <a:lstStyle/>
          <a:p>
            <a:endParaRPr lang="en-US"/>
          </a:p>
        </p:txBody>
      </p:sp>
      <p:sp>
        <p:nvSpPr>
          <p:cNvPr id="302" name="Google Shape;302;p30"/>
          <p:cNvSpPr txBox="1"/>
          <p:nvPr/>
        </p:nvSpPr>
        <p:spPr>
          <a:xfrm>
            <a:off x="95850" y="811438"/>
            <a:ext cx="13617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enter “address field”</a:t>
            </a:r>
            <a:endParaRPr i="1">
              <a:solidFill>
                <a:srgbClr val="000000"/>
              </a:solidFill>
            </a:endParaRPr>
          </a:p>
        </p:txBody>
      </p:sp>
      <p:sp>
        <p:nvSpPr>
          <p:cNvPr id="303" name="Google Shape;303;p30"/>
          <p:cNvSpPr txBox="1"/>
          <p:nvPr/>
        </p:nvSpPr>
        <p:spPr>
          <a:xfrm>
            <a:off x="2517175" y="811438"/>
            <a:ext cx="1544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click “File - -&gt; Open”</a:t>
            </a:r>
            <a:endParaRPr i="1">
              <a:solidFill>
                <a:srgbClr val="000000"/>
              </a:solidFill>
            </a:endParaRPr>
          </a:p>
        </p:txBody>
      </p:sp>
      <p:sp>
        <p:nvSpPr>
          <p:cNvPr id="304" name="Google Shape;304;p30"/>
          <p:cNvSpPr/>
          <p:nvPr/>
        </p:nvSpPr>
        <p:spPr>
          <a:xfrm>
            <a:off x="871291" y="2939584"/>
            <a:ext cx="2392800" cy="10902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Document of the URL Downloaded and Displayed as “current”</a:t>
            </a:r>
            <a:endParaRPr/>
          </a:p>
        </p:txBody>
      </p:sp>
      <p:cxnSp>
        <p:nvCxnSpPr>
          <p:cNvPr id="305" name="Google Shape;305;p30"/>
          <p:cNvCxnSpPr>
            <a:stCxn id="299" idx="2"/>
            <a:endCxn id="304" idx="0"/>
          </p:cNvCxnSpPr>
          <p:nvPr/>
        </p:nvCxnSpPr>
        <p:spPr>
          <a:xfrm flipH="1">
            <a:off x="2067675" y="2446625"/>
            <a:ext cx="2700" cy="492900"/>
          </a:xfrm>
          <a:prstGeom prst="straightConnector1">
            <a:avLst/>
          </a:prstGeom>
          <a:noFill/>
          <a:ln w="9525" cap="flat" cmpd="sng">
            <a:solidFill>
              <a:schemeClr val="dk1"/>
            </a:solidFill>
            <a:prstDash val="solid"/>
            <a:round/>
            <a:headEnd type="none" w="med" len="med"/>
            <a:tailEnd type="triangle" w="med" len="med"/>
          </a:ln>
        </p:spPr>
      </p:cxnSp>
      <p:sp>
        <p:nvSpPr>
          <p:cNvPr id="306" name="Google Shape;306;p30"/>
          <p:cNvSpPr txBox="1"/>
          <p:nvPr/>
        </p:nvSpPr>
        <p:spPr>
          <a:xfrm>
            <a:off x="1428537" y="2430894"/>
            <a:ext cx="78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yes</a:t>
            </a:r>
            <a:endParaRPr i="1">
              <a:solidFill>
                <a:srgbClr val="000000"/>
              </a:solidFill>
            </a:endParaRPr>
          </a:p>
        </p:txBody>
      </p:sp>
      <p:sp>
        <p:nvSpPr>
          <p:cNvPr id="307" name="Google Shape;307;p30"/>
          <p:cNvSpPr/>
          <p:nvPr/>
        </p:nvSpPr>
        <p:spPr>
          <a:xfrm>
            <a:off x="5321600" y="2823875"/>
            <a:ext cx="1474200" cy="10902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Displaying No “current” Document</a:t>
            </a:r>
            <a:endParaRPr/>
          </a:p>
        </p:txBody>
      </p:sp>
      <p:cxnSp>
        <p:nvCxnSpPr>
          <p:cNvPr id="308" name="Google Shape;308;p30"/>
          <p:cNvCxnSpPr>
            <a:stCxn id="294" idx="2"/>
            <a:endCxn id="307" idx="0"/>
          </p:cNvCxnSpPr>
          <p:nvPr/>
        </p:nvCxnSpPr>
        <p:spPr>
          <a:xfrm flipH="1">
            <a:off x="6058596" y="2428401"/>
            <a:ext cx="2100" cy="395400"/>
          </a:xfrm>
          <a:prstGeom prst="straightConnector1">
            <a:avLst/>
          </a:prstGeom>
          <a:noFill/>
          <a:ln w="9525" cap="flat" cmpd="sng">
            <a:solidFill>
              <a:schemeClr val="dk1"/>
            </a:solidFill>
            <a:prstDash val="solid"/>
            <a:round/>
            <a:headEnd type="none" w="med" len="med"/>
            <a:tailEnd type="triangle" w="med" len="med"/>
          </a:ln>
        </p:spPr>
      </p:cxnSp>
      <p:cxnSp>
        <p:nvCxnSpPr>
          <p:cNvPr id="309" name="Google Shape;309;p30"/>
          <p:cNvCxnSpPr>
            <a:stCxn id="299" idx="3"/>
            <a:endCxn id="294" idx="0"/>
          </p:cNvCxnSpPr>
          <p:nvPr/>
        </p:nvCxnSpPr>
        <p:spPr>
          <a:xfrm>
            <a:off x="3413925" y="1950125"/>
            <a:ext cx="2646900" cy="372600"/>
          </a:xfrm>
          <a:prstGeom prst="bentConnector2">
            <a:avLst/>
          </a:prstGeom>
          <a:noFill/>
          <a:ln w="9525" cap="flat" cmpd="sng">
            <a:solidFill>
              <a:schemeClr val="dk1"/>
            </a:solidFill>
            <a:prstDash val="solid"/>
            <a:round/>
            <a:headEnd type="none" w="med" len="med"/>
            <a:tailEnd type="triangle" w="med" len="med"/>
          </a:ln>
        </p:spPr>
      </p:cxnSp>
      <p:sp>
        <p:nvSpPr>
          <p:cNvPr id="310" name="Google Shape;310;p30"/>
          <p:cNvSpPr txBox="1"/>
          <p:nvPr/>
        </p:nvSpPr>
        <p:spPr>
          <a:xfrm>
            <a:off x="3234099" y="1589236"/>
            <a:ext cx="78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no</a:t>
            </a:r>
            <a:endParaRPr i="1">
              <a:solidFill>
                <a:srgbClr val="000000"/>
              </a:solidFill>
            </a:endParaRPr>
          </a:p>
        </p:txBody>
      </p:sp>
      <p:sp>
        <p:nvSpPr>
          <p:cNvPr id="311" name="Google Shape;311;p30"/>
          <p:cNvSpPr/>
          <p:nvPr/>
        </p:nvSpPr>
        <p:spPr>
          <a:xfrm>
            <a:off x="2250100" y="4082575"/>
            <a:ext cx="1889400" cy="9930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Displaying the Last “current” Document</a:t>
            </a:r>
            <a:endParaRPr/>
          </a:p>
        </p:txBody>
      </p:sp>
      <p:sp>
        <p:nvSpPr>
          <p:cNvPr id="312" name="Google Shape;312;p30"/>
          <p:cNvSpPr/>
          <p:nvPr/>
        </p:nvSpPr>
        <p:spPr>
          <a:xfrm>
            <a:off x="5344446" y="4227801"/>
            <a:ext cx="14325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cxnSp>
        <p:nvCxnSpPr>
          <p:cNvPr id="313" name="Google Shape;313;p30"/>
          <p:cNvCxnSpPr>
            <a:stCxn id="312" idx="2"/>
            <a:endCxn id="311" idx="6"/>
          </p:cNvCxnSpPr>
          <p:nvPr/>
        </p:nvCxnSpPr>
        <p:spPr>
          <a:xfrm rot="5400000">
            <a:off x="4977246" y="3495651"/>
            <a:ext cx="245700" cy="1921200"/>
          </a:xfrm>
          <a:prstGeom prst="bentConnector2">
            <a:avLst/>
          </a:prstGeom>
          <a:noFill/>
          <a:ln w="9525" cap="flat" cmpd="sng">
            <a:solidFill>
              <a:schemeClr val="dk1"/>
            </a:solidFill>
            <a:prstDash val="solid"/>
            <a:round/>
            <a:headEnd type="none" w="med" len="med"/>
            <a:tailEnd type="triangle" w="med" len="med"/>
          </a:ln>
        </p:spPr>
      </p:cxnSp>
      <p:cxnSp>
        <p:nvCxnSpPr>
          <p:cNvPr id="314" name="Google Shape;314;p30"/>
          <p:cNvCxnSpPr>
            <a:stCxn id="295" idx="4"/>
            <a:endCxn id="312" idx="0"/>
          </p:cNvCxnSpPr>
          <p:nvPr/>
        </p:nvCxnSpPr>
        <p:spPr>
          <a:xfrm>
            <a:off x="4285100" y="3914075"/>
            <a:ext cx="1775700" cy="313800"/>
          </a:xfrm>
          <a:prstGeom prst="straightConnector1">
            <a:avLst/>
          </a:prstGeom>
          <a:noFill/>
          <a:ln w="9525" cap="flat" cmpd="sng">
            <a:solidFill>
              <a:schemeClr val="dk1"/>
            </a:solidFill>
            <a:prstDash val="solid"/>
            <a:round/>
            <a:headEnd type="none" w="med" len="med"/>
            <a:tailEnd type="triangle" w="med" len="med"/>
          </a:ln>
        </p:spPr>
      </p:cxnSp>
      <p:cxnSp>
        <p:nvCxnSpPr>
          <p:cNvPr id="315" name="Google Shape;315;p30"/>
          <p:cNvCxnSpPr>
            <a:stCxn id="307" idx="4"/>
            <a:endCxn id="312" idx="0"/>
          </p:cNvCxnSpPr>
          <p:nvPr/>
        </p:nvCxnSpPr>
        <p:spPr>
          <a:xfrm>
            <a:off x="6058700" y="3914075"/>
            <a:ext cx="2100" cy="313800"/>
          </a:xfrm>
          <a:prstGeom prst="straightConnector1">
            <a:avLst/>
          </a:prstGeom>
          <a:noFill/>
          <a:ln w="9525" cap="flat" cmpd="sng">
            <a:solidFill>
              <a:schemeClr val="dk1"/>
            </a:solidFill>
            <a:prstDash val="solid"/>
            <a:round/>
            <a:headEnd type="none" w="med" len="med"/>
            <a:tailEnd type="triangle" w="med" len="med"/>
          </a:ln>
        </p:spPr>
      </p:cxnSp>
      <p:cxnSp>
        <p:nvCxnSpPr>
          <p:cNvPr id="316" name="Google Shape;316;p30"/>
          <p:cNvCxnSpPr>
            <a:stCxn id="296" idx="4"/>
            <a:endCxn id="312" idx="0"/>
          </p:cNvCxnSpPr>
          <p:nvPr/>
        </p:nvCxnSpPr>
        <p:spPr>
          <a:xfrm flipH="1">
            <a:off x="6060800" y="3914075"/>
            <a:ext cx="1851300" cy="3138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B20 Notes</a:t>
            </a:r>
            <a:endParaRPr/>
          </a:p>
        </p:txBody>
      </p:sp>
      <p:sp>
        <p:nvSpPr>
          <p:cNvPr id="322" name="Google Shape;322;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Clr>
                <a:schemeClr val="dk1"/>
              </a:buClr>
              <a:buSzPts val="1800"/>
              <a:buChar char="●"/>
            </a:pPr>
            <a:r>
              <a:rPr lang="en">
                <a:solidFill>
                  <a:schemeClr val="dk1"/>
                </a:solidFill>
              </a:rPr>
              <a:t>Sparkles: (1) the TWO transitions coming out of “Browser”, as opposed to modeling “File - -&gt; Open” as a separate and possibly redundant flow; (2) use of “To-be-opened resource” to </a:t>
            </a:r>
            <a:r>
              <a:rPr lang="en" b="1" u="sng">
                <a:solidFill>
                  <a:schemeClr val="dk1"/>
                </a:solidFill>
              </a:rPr>
              <a:t>ABSTRACT</a:t>
            </a:r>
            <a:r>
              <a:rPr lang="en">
                <a:solidFill>
                  <a:schemeClr val="dk1"/>
                </a:solidFill>
              </a:rPr>
              <a:t> both “address field” entering and “File - -&gt; Open” clicking; (3) the split to organize the three “AND” actions; (4) the merge to synchronize (bring back) the completion of the three actions; (5) make sure that the click “Back” button is on the “no” branch and is coming out of the merge.</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Logical test cases – please see next slide.</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This requirement is complex (probably the most complex in the Browser dataset), e.g., it covers TWO behaviors of entering “address field” and clicking “File - -&gt; Open”. As a result, ABSTRACTION is needed to avoid the model (test graph) from being too large/complex/redundant.</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B20 Notes (Cont’d): </a:t>
            </a:r>
            <a:r>
              <a:rPr lang="en" b="1"/>
              <a:t>6</a:t>
            </a:r>
            <a:r>
              <a:rPr lang="en"/>
              <a:t> total logical test cases</a:t>
            </a:r>
            <a:endParaRPr/>
          </a:p>
        </p:txBody>
      </p:sp>
      <p:sp>
        <p:nvSpPr>
          <p:cNvPr id="328" name="Google Shape;328;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457200" lvl="0" indent="0" algn="l" rtl="0">
              <a:spcBef>
                <a:spcPts val="0"/>
              </a:spcBef>
              <a:spcAft>
                <a:spcPts val="0"/>
              </a:spcAft>
              <a:buNone/>
            </a:pPr>
            <a:r>
              <a:rPr lang="en">
                <a:solidFill>
                  <a:schemeClr val="dk1"/>
                </a:solidFill>
              </a:rPr>
              <a:t>Note that the following is using </a:t>
            </a:r>
            <a:r>
              <a:rPr lang="en">
                <a:solidFill>
                  <a:srgbClr val="FF0000"/>
                </a:solidFill>
              </a:rPr>
              <a:t>enter “address field”</a:t>
            </a:r>
            <a:r>
              <a:rPr lang="en">
                <a:solidFill>
                  <a:schemeClr val="dk1"/>
                </a:solidFill>
              </a:rPr>
              <a:t> to define logical test cases; in parallel, the same number of logical test cases can be defined by following the </a:t>
            </a:r>
            <a:r>
              <a:rPr lang="en">
                <a:solidFill>
                  <a:srgbClr val="FF0000"/>
                </a:solidFill>
              </a:rPr>
              <a:t>click “File - -&gt; Open”</a:t>
            </a:r>
            <a:r>
              <a:rPr lang="en">
                <a:solidFill>
                  <a:schemeClr val="dk1"/>
                </a:solidFill>
              </a:rPr>
              <a:t> transition.</a:t>
            </a:r>
            <a:endParaRPr>
              <a:solidFill>
                <a:schemeClr val="dk1"/>
              </a:solidFill>
            </a:endParaRPr>
          </a:p>
          <a:p>
            <a:pPr marL="457200" lvl="0" indent="-334327" algn="l" rtl="0">
              <a:spcBef>
                <a:spcPts val="1200"/>
              </a:spcBef>
              <a:spcAft>
                <a:spcPts val="0"/>
              </a:spcAft>
              <a:buClr>
                <a:schemeClr val="dk1"/>
              </a:buClr>
              <a:buSzPct val="100000"/>
              <a:buAutoNum type="arabicPeriod"/>
            </a:pPr>
            <a:r>
              <a:rPr lang="en">
                <a:solidFill>
                  <a:schemeClr val="dk1"/>
                </a:solidFill>
              </a:rPr>
              <a:t>“Browser” → (enter “address field”) → CONDITION → (yes) → “Document … downloaded and displayed …”</a:t>
            </a:r>
            <a:endParaRPr>
              <a:solidFill>
                <a:schemeClr val="dk1"/>
              </a:solidFill>
            </a:endParaRPr>
          </a:p>
          <a:p>
            <a:pPr marL="457200" lvl="0" indent="-334327" algn="l" rtl="0">
              <a:spcBef>
                <a:spcPts val="0"/>
              </a:spcBef>
              <a:spcAft>
                <a:spcPts val="0"/>
              </a:spcAft>
              <a:buClr>
                <a:schemeClr val="dk1"/>
              </a:buClr>
              <a:buSzPct val="100000"/>
              <a:buAutoNum type="arabicPeriod"/>
            </a:pPr>
            <a:r>
              <a:rPr lang="en">
                <a:solidFill>
                  <a:schemeClr val="dk1"/>
                </a:solidFill>
              </a:rPr>
              <a:t>“Browser” → (enter “address field”) → CONDITION → (no) → do the THREE things and END here</a:t>
            </a:r>
            <a:endParaRPr>
              <a:solidFill>
                <a:schemeClr val="dk1"/>
              </a:solidFill>
            </a:endParaRPr>
          </a:p>
          <a:p>
            <a:pPr marL="457200" lvl="0" indent="-334327" algn="l" rtl="0">
              <a:spcBef>
                <a:spcPts val="0"/>
              </a:spcBef>
              <a:spcAft>
                <a:spcPts val="0"/>
              </a:spcAft>
              <a:buClr>
                <a:schemeClr val="dk1"/>
              </a:buClr>
              <a:buSzPct val="100000"/>
              <a:buAutoNum type="arabicPeriod"/>
            </a:pPr>
            <a:r>
              <a:rPr lang="en">
                <a:solidFill>
                  <a:schemeClr val="dk1"/>
                </a:solidFill>
              </a:rPr>
              <a:t>“Browser” → (enter “address field”) → CONDITION → (no) → do the THREE things → (merge) → click “Back” button → “Displaying the Last …”</a:t>
            </a:r>
            <a:endParaRPr>
              <a:solidFill>
                <a:schemeClr val="dk1"/>
              </a:solidFill>
            </a:endParaRPr>
          </a:p>
          <a:p>
            <a:pPr marL="457200" lvl="0" indent="0" algn="l" rtl="0">
              <a:spcBef>
                <a:spcPts val="1200"/>
              </a:spcBef>
              <a:spcAft>
                <a:spcPts val="1200"/>
              </a:spcAft>
              <a:buNone/>
            </a:pPr>
            <a:r>
              <a:rPr lang="en">
                <a:solidFill>
                  <a:schemeClr val="dk1"/>
                </a:solidFill>
              </a:rPr>
              <a:t>Again, there will be 3 additional logical test cases that begin with “Browser” → (click “File - -&gt; Open”) → … Thus, the total number of logical test cases for B20 is: </a:t>
            </a:r>
            <a:r>
              <a:rPr lang="en" b="1">
                <a:solidFill>
                  <a:schemeClr val="dk1"/>
                </a:solidFill>
              </a:rPr>
              <a:t>6</a:t>
            </a:r>
            <a:r>
              <a:rPr lang="en">
                <a:solidFill>
                  <a:schemeClr val="dk1"/>
                </a:solidFill>
              </a:rPr>
              <a:t>.</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3"/>
          <p:cNvSpPr/>
          <p:nvPr/>
        </p:nvSpPr>
        <p:spPr>
          <a:xfrm>
            <a:off x="1264113" y="374750"/>
            <a:ext cx="1242900" cy="5625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Browser</a:t>
            </a:r>
            <a:endParaRPr/>
          </a:p>
        </p:txBody>
      </p:sp>
      <p:cxnSp>
        <p:nvCxnSpPr>
          <p:cNvPr id="334" name="Google Shape;334;p33"/>
          <p:cNvCxnSpPr/>
          <p:nvPr/>
        </p:nvCxnSpPr>
        <p:spPr>
          <a:xfrm>
            <a:off x="1357513" y="241415"/>
            <a:ext cx="237000" cy="165000"/>
          </a:xfrm>
          <a:prstGeom prst="straightConnector1">
            <a:avLst/>
          </a:prstGeom>
          <a:noFill/>
          <a:ln w="9525" cap="flat" cmpd="sng">
            <a:solidFill>
              <a:srgbClr val="000000"/>
            </a:solidFill>
            <a:prstDash val="solid"/>
            <a:round/>
            <a:headEnd type="none" w="med" len="med"/>
            <a:tailEnd type="triangle" w="med" len="med"/>
          </a:ln>
        </p:spPr>
      </p:cxnSp>
      <p:sp>
        <p:nvSpPr>
          <p:cNvPr id="335" name="Google Shape;335;p33"/>
          <p:cNvSpPr txBox="1"/>
          <p:nvPr/>
        </p:nvSpPr>
        <p:spPr>
          <a:xfrm>
            <a:off x="7415350" y="178600"/>
            <a:ext cx="1135200" cy="498000"/>
          </a:xfrm>
          <a:prstGeom prst="rect">
            <a:avLst/>
          </a:prstGeom>
          <a:noFill/>
          <a:ln w="28575"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FF"/>
                </a:solidFill>
                <a:latin typeface="Comic Sans MS"/>
                <a:ea typeface="Comic Sans MS"/>
                <a:cs typeface="Comic Sans MS"/>
                <a:sym typeface="Comic Sans MS"/>
              </a:rPr>
              <a:t>B23</a:t>
            </a:r>
            <a:endParaRPr sz="1800" b="1">
              <a:solidFill>
                <a:srgbClr val="0000FF"/>
              </a:solidFill>
              <a:latin typeface="Comic Sans MS"/>
              <a:ea typeface="Comic Sans MS"/>
              <a:cs typeface="Comic Sans MS"/>
              <a:sym typeface="Comic Sans MS"/>
            </a:endParaRPr>
          </a:p>
        </p:txBody>
      </p:sp>
      <p:sp>
        <p:nvSpPr>
          <p:cNvPr id="336" name="Google Shape;336;p33"/>
          <p:cNvSpPr txBox="1"/>
          <p:nvPr/>
        </p:nvSpPr>
        <p:spPr>
          <a:xfrm>
            <a:off x="6299875" y="1341400"/>
            <a:ext cx="2426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click “Toolbar - -&gt; Reload”</a:t>
            </a:r>
            <a:endParaRPr i="1">
              <a:solidFill>
                <a:srgbClr val="000000"/>
              </a:solidFill>
            </a:endParaRPr>
          </a:p>
        </p:txBody>
      </p:sp>
      <p:sp>
        <p:nvSpPr>
          <p:cNvPr id="337" name="Google Shape;337;p33"/>
          <p:cNvSpPr/>
          <p:nvPr/>
        </p:nvSpPr>
        <p:spPr>
          <a:xfrm>
            <a:off x="2902545" y="3059676"/>
            <a:ext cx="14325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sp>
        <p:nvSpPr>
          <p:cNvPr id="338" name="Google Shape;338;p33"/>
          <p:cNvSpPr/>
          <p:nvPr/>
        </p:nvSpPr>
        <p:spPr>
          <a:xfrm>
            <a:off x="896900" y="3815264"/>
            <a:ext cx="2492700" cy="7977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Pushing “current” Document into the “Back” Stack</a:t>
            </a:r>
            <a:endParaRPr/>
          </a:p>
        </p:txBody>
      </p:sp>
      <p:sp>
        <p:nvSpPr>
          <p:cNvPr id="339" name="Google Shape;339;p33"/>
          <p:cNvSpPr/>
          <p:nvPr/>
        </p:nvSpPr>
        <p:spPr>
          <a:xfrm>
            <a:off x="4668925" y="178600"/>
            <a:ext cx="2153100" cy="7977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Downloading Current Page Again</a:t>
            </a:r>
            <a:endParaRPr/>
          </a:p>
        </p:txBody>
      </p:sp>
      <p:cxnSp>
        <p:nvCxnSpPr>
          <p:cNvPr id="340" name="Google Shape;340;p33"/>
          <p:cNvCxnSpPr>
            <a:stCxn id="337" idx="2"/>
            <a:endCxn id="338" idx="0"/>
          </p:cNvCxnSpPr>
          <p:nvPr/>
        </p:nvCxnSpPr>
        <p:spPr>
          <a:xfrm flipH="1">
            <a:off x="2143395" y="3165276"/>
            <a:ext cx="1475400" cy="650100"/>
          </a:xfrm>
          <a:prstGeom prst="straightConnector1">
            <a:avLst/>
          </a:prstGeom>
          <a:noFill/>
          <a:ln w="9525" cap="flat" cmpd="sng">
            <a:solidFill>
              <a:srgbClr val="000000"/>
            </a:solidFill>
            <a:prstDash val="solid"/>
            <a:round/>
            <a:headEnd type="none" w="med" len="med"/>
            <a:tailEnd type="triangle" w="med" len="med"/>
          </a:ln>
        </p:spPr>
      </p:cxnSp>
      <p:sp>
        <p:nvSpPr>
          <p:cNvPr id="341" name="Google Shape;341;p33"/>
          <p:cNvSpPr/>
          <p:nvPr/>
        </p:nvSpPr>
        <p:spPr>
          <a:xfrm>
            <a:off x="1003125" y="1301650"/>
            <a:ext cx="1764900" cy="797700"/>
          </a:xfrm>
          <a:prstGeom prst="diamond">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Anchor content?</a:t>
            </a:r>
            <a:endParaRPr/>
          </a:p>
        </p:txBody>
      </p:sp>
      <p:cxnSp>
        <p:nvCxnSpPr>
          <p:cNvPr id="342" name="Google Shape;342;p33"/>
          <p:cNvCxnSpPr>
            <a:stCxn id="333" idx="4"/>
            <a:endCxn id="341" idx="0"/>
          </p:cNvCxnSpPr>
          <p:nvPr/>
        </p:nvCxnSpPr>
        <p:spPr>
          <a:xfrm>
            <a:off x="1885563" y="937250"/>
            <a:ext cx="0" cy="364500"/>
          </a:xfrm>
          <a:prstGeom prst="straightConnector1">
            <a:avLst/>
          </a:prstGeom>
          <a:noFill/>
          <a:ln w="9525" cap="flat" cmpd="sng">
            <a:solidFill>
              <a:schemeClr val="dk1"/>
            </a:solidFill>
            <a:prstDash val="solid"/>
            <a:round/>
            <a:headEnd type="none" w="med" len="med"/>
            <a:tailEnd type="triangle" w="med" len="med"/>
          </a:ln>
        </p:spPr>
      </p:cxnSp>
      <p:sp>
        <p:nvSpPr>
          <p:cNvPr id="343" name="Google Shape;343;p33"/>
          <p:cNvSpPr txBox="1"/>
          <p:nvPr/>
        </p:nvSpPr>
        <p:spPr>
          <a:xfrm>
            <a:off x="106050" y="811700"/>
            <a:ext cx="17244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render a simple HTML document</a:t>
            </a:r>
            <a:endParaRPr i="1">
              <a:solidFill>
                <a:srgbClr val="000000"/>
              </a:solidFill>
            </a:endParaRPr>
          </a:p>
        </p:txBody>
      </p:sp>
      <p:sp>
        <p:nvSpPr>
          <p:cNvPr id="344" name="Google Shape;344;p33"/>
          <p:cNvSpPr/>
          <p:nvPr/>
        </p:nvSpPr>
        <p:spPr>
          <a:xfrm>
            <a:off x="3659725" y="1341400"/>
            <a:ext cx="1823400" cy="7182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Content Click Disabled</a:t>
            </a:r>
            <a:endParaRPr/>
          </a:p>
        </p:txBody>
      </p:sp>
      <p:cxnSp>
        <p:nvCxnSpPr>
          <p:cNvPr id="345" name="Google Shape;345;p33"/>
          <p:cNvCxnSpPr>
            <a:stCxn id="341" idx="3"/>
            <a:endCxn id="344" idx="2"/>
          </p:cNvCxnSpPr>
          <p:nvPr/>
        </p:nvCxnSpPr>
        <p:spPr>
          <a:xfrm>
            <a:off x="2768025" y="1700500"/>
            <a:ext cx="891600" cy="0"/>
          </a:xfrm>
          <a:prstGeom prst="straightConnector1">
            <a:avLst/>
          </a:prstGeom>
          <a:noFill/>
          <a:ln w="9525" cap="flat" cmpd="sng">
            <a:solidFill>
              <a:schemeClr val="dk1"/>
            </a:solidFill>
            <a:prstDash val="solid"/>
            <a:round/>
            <a:headEnd type="none" w="med" len="med"/>
            <a:tailEnd type="triangle" w="med" len="med"/>
          </a:ln>
        </p:spPr>
      </p:cxnSp>
      <p:sp>
        <p:nvSpPr>
          <p:cNvPr id="346" name="Google Shape;346;p33"/>
          <p:cNvSpPr txBox="1"/>
          <p:nvPr/>
        </p:nvSpPr>
        <p:spPr>
          <a:xfrm>
            <a:off x="2539424" y="1374160"/>
            <a:ext cx="78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no</a:t>
            </a:r>
            <a:endParaRPr i="1">
              <a:solidFill>
                <a:srgbClr val="000000"/>
              </a:solidFill>
            </a:endParaRPr>
          </a:p>
        </p:txBody>
      </p:sp>
      <p:sp>
        <p:nvSpPr>
          <p:cNvPr id="347" name="Google Shape;347;p33"/>
          <p:cNvSpPr/>
          <p:nvPr/>
        </p:nvSpPr>
        <p:spPr>
          <a:xfrm>
            <a:off x="978358" y="2357914"/>
            <a:ext cx="1823400" cy="7182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Content Click Enabled</a:t>
            </a:r>
            <a:endParaRPr/>
          </a:p>
        </p:txBody>
      </p:sp>
      <p:cxnSp>
        <p:nvCxnSpPr>
          <p:cNvPr id="348" name="Google Shape;348;p33"/>
          <p:cNvCxnSpPr>
            <a:stCxn id="341" idx="2"/>
            <a:endCxn id="347" idx="0"/>
          </p:cNvCxnSpPr>
          <p:nvPr/>
        </p:nvCxnSpPr>
        <p:spPr>
          <a:xfrm>
            <a:off x="1885575" y="2099350"/>
            <a:ext cx="4500" cy="258600"/>
          </a:xfrm>
          <a:prstGeom prst="straightConnector1">
            <a:avLst/>
          </a:prstGeom>
          <a:noFill/>
          <a:ln w="9525" cap="flat" cmpd="sng">
            <a:solidFill>
              <a:schemeClr val="dk1"/>
            </a:solidFill>
            <a:prstDash val="solid"/>
            <a:round/>
            <a:headEnd type="none" w="med" len="med"/>
            <a:tailEnd type="triangle" w="med" len="med"/>
          </a:ln>
        </p:spPr>
      </p:cxnSp>
      <p:sp>
        <p:nvSpPr>
          <p:cNvPr id="349" name="Google Shape;349;p33"/>
          <p:cNvSpPr txBox="1"/>
          <p:nvPr/>
        </p:nvSpPr>
        <p:spPr>
          <a:xfrm>
            <a:off x="1199937" y="1973694"/>
            <a:ext cx="78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yes</a:t>
            </a:r>
            <a:endParaRPr i="1">
              <a:solidFill>
                <a:srgbClr val="000000"/>
              </a:solidFill>
            </a:endParaRPr>
          </a:p>
        </p:txBody>
      </p:sp>
      <p:sp>
        <p:nvSpPr>
          <p:cNvPr id="350" name="Google Shape;350;p33"/>
          <p:cNvSpPr/>
          <p:nvPr/>
        </p:nvSpPr>
        <p:spPr>
          <a:xfrm>
            <a:off x="3441525" y="3663850"/>
            <a:ext cx="2595600" cy="1120500"/>
          </a:xfrm>
          <a:prstGeom prst="diamond">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Anchor’s “href” = top of the “Forward” Stack?</a:t>
            </a:r>
            <a:endParaRPr/>
          </a:p>
        </p:txBody>
      </p:sp>
      <p:cxnSp>
        <p:nvCxnSpPr>
          <p:cNvPr id="351" name="Google Shape;351;p33"/>
          <p:cNvCxnSpPr>
            <a:stCxn id="337" idx="2"/>
            <a:endCxn id="350" idx="0"/>
          </p:cNvCxnSpPr>
          <p:nvPr/>
        </p:nvCxnSpPr>
        <p:spPr>
          <a:xfrm>
            <a:off x="3618795" y="3165276"/>
            <a:ext cx="1120500" cy="498600"/>
          </a:xfrm>
          <a:prstGeom prst="straightConnector1">
            <a:avLst/>
          </a:prstGeom>
          <a:noFill/>
          <a:ln w="9525" cap="flat" cmpd="sng">
            <a:solidFill>
              <a:schemeClr val="dk1"/>
            </a:solidFill>
            <a:prstDash val="solid"/>
            <a:round/>
            <a:headEnd type="none" w="med" len="med"/>
            <a:tailEnd type="triangle" w="med" len="med"/>
          </a:ln>
        </p:spPr>
      </p:cxnSp>
      <p:cxnSp>
        <p:nvCxnSpPr>
          <p:cNvPr id="352" name="Google Shape;352;p33"/>
          <p:cNvCxnSpPr>
            <a:endCxn id="337" idx="0"/>
          </p:cNvCxnSpPr>
          <p:nvPr/>
        </p:nvCxnSpPr>
        <p:spPr>
          <a:xfrm>
            <a:off x="2801895" y="2717076"/>
            <a:ext cx="816900" cy="342600"/>
          </a:xfrm>
          <a:prstGeom prst="bentConnector2">
            <a:avLst/>
          </a:prstGeom>
          <a:noFill/>
          <a:ln w="9525" cap="flat" cmpd="sng">
            <a:solidFill>
              <a:schemeClr val="dk1"/>
            </a:solidFill>
            <a:prstDash val="solid"/>
            <a:round/>
            <a:headEnd type="none" w="med" len="med"/>
            <a:tailEnd type="triangle" w="med" len="med"/>
          </a:ln>
        </p:spPr>
      </p:cxnSp>
      <p:sp>
        <p:nvSpPr>
          <p:cNvPr id="353" name="Google Shape;353;p33"/>
          <p:cNvSpPr txBox="1"/>
          <p:nvPr/>
        </p:nvSpPr>
        <p:spPr>
          <a:xfrm>
            <a:off x="2539725" y="2340638"/>
            <a:ext cx="2426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click  anchor element</a:t>
            </a:r>
            <a:endParaRPr i="1">
              <a:solidFill>
                <a:srgbClr val="000000"/>
              </a:solidFill>
            </a:endParaRPr>
          </a:p>
        </p:txBody>
      </p:sp>
      <p:sp>
        <p:nvSpPr>
          <p:cNvPr id="354" name="Google Shape;354;p33"/>
          <p:cNvSpPr/>
          <p:nvPr/>
        </p:nvSpPr>
        <p:spPr>
          <a:xfrm>
            <a:off x="7112900" y="2019350"/>
            <a:ext cx="1933200" cy="7977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“Forward” Stack Cleared</a:t>
            </a:r>
            <a:endParaRPr/>
          </a:p>
        </p:txBody>
      </p:sp>
      <p:sp>
        <p:nvSpPr>
          <p:cNvPr id="355" name="Google Shape;355;p33"/>
          <p:cNvSpPr/>
          <p:nvPr/>
        </p:nvSpPr>
        <p:spPr>
          <a:xfrm rot="5400000">
            <a:off x="6335375" y="4458019"/>
            <a:ext cx="765900" cy="105600"/>
          </a:xfrm>
          <a:prstGeom prst="rect">
            <a:avLst/>
          </a:prstGeom>
          <a:solidFill>
            <a:srgbClr val="00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0000"/>
              </a:highlight>
            </a:endParaRPr>
          </a:p>
        </p:txBody>
      </p:sp>
      <p:sp>
        <p:nvSpPr>
          <p:cNvPr id="356" name="Google Shape;356;p33"/>
          <p:cNvSpPr/>
          <p:nvPr/>
        </p:nvSpPr>
        <p:spPr>
          <a:xfrm>
            <a:off x="7112900" y="4229150"/>
            <a:ext cx="1933200" cy="7977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“Forward” Stack Popped</a:t>
            </a:r>
            <a:endParaRPr/>
          </a:p>
        </p:txBody>
      </p:sp>
      <p:sp>
        <p:nvSpPr>
          <p:cNvPr id="357" name="Google Shape;357;p33"/>
          <p:cNvSpPr/>
          <p:nvPr/>
        </p:nvSpPr>
        <p:spPr>
          <a:xfrm>
            <a:off x="7112900" y="2954025"/>
            <a:ext cx="1933200" cy="1221300"/>
          </a:xfrm>
          <a:prstGeom prst="ellipse">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Document of the “Forward” Stack’s Top Displayed as “current”</a:t>
            </a:r>
            <a:endParaRPr/>
          </a:p>
        </p:txBody>
      </p:sp>
      <p:cxnSp>
        <p:nvCxnSpPr>
          <p:cNvPr id="358" name="Google Shape;358;p33"/>
          <p:cNvCxnSpPr>
            <a:stCxn id="350" idx="3"/>
            <a:endCxn id="354" idx="2"/>
          </p:cNvCxnSpPr>
          <p:nvPr/>
        </p:nvCxnSpPr>
        <p:spPr>
          <a:xfrm rot="10800000" flipH="1">
            <a:off x="6037125" y="2418100"/>
            <a:ext cx="1075800" cy="1806000"/>
          </a:xfrm>
          <a:prstGeom prst="straightConnector1">
            <a:avLst/>
          </a:prstGeom>
          <a:noFill/>
          <a:ln w="9525" cap="flat" cmpd="sng">
            <a:solidFill>
              <a:schemeClr val="dk1"/>
            </a:solidFill>
            <a:prstDash val="solid"/>
            <a:round/>
            <a:headEnd type="none" w="med" len="med"/>
            <a:tailEnd type="triangle" w="med" len="med"/>
          </a:ln>
        </p:spPr>
      </p:cxnSp>
      <p:sp>
        <p:nvSpPr>
          <p:cNvPr id="359" name="Google Shape;359;p33"/>
          <p:cNvSpPr txBox="1"/>
          <p:nvPr/>
        </p:nvSpPr>
        <p:spPr>
          <a:xfrm>
            <a:off x="5892224" y="3279160"/>
            <a:ext cx="78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no</a:t>
            </a:r>
            <a:endParaRPr i="1">
              <a:solidFill>
                <a:srgbClr val="000000"/>
              </a:solidFill>
            </a:endParaRPr>
          </a:p>
        </p:txBody>
      </p:sp>
      <p:cxnSp>
        <p:nvCxnSpPr>
          <p:cNvPr id="360" name="Google Shape;360;p33"/>
          <p:cNvCxnSpPr>
            <a:stCxn id="350" idx="3"/>
            <a:endCxn id="355" idx="2"/>
          </p:cNvCxnSpPr>
          <p:nvPr/>
        </p:nvCxnSpPr>
        <p:spPr>
          <a:xfrm>
            <a:off x="6037125" y="4224100"/>
            <a:ext cx="628500" cy="286800"/>
          </a:xfrm>
          <a:prstGeom prst="straightConnector1">
            <a:avLst/>
          </a:prstGeom>
          <a:noFill/>
          <a:ln w="9525" cap="flat" cmpd="sng">
            <a:solidFill>
              <a:schemeClr val="dk1"/>
            </a:solidFill>
            <a:prstDash val="solid"/>
            <a:round/>
            <a:headEnd type="none" w="med" len="med"/>
            <a:tailEnd type="triangle" w="med" len="med"/>
          </a:ln>
        </p:spPr>
      </p:cxnSp>
      <p:sp>
        <p:nvSpPr>
          <p:cNvPr id="361" name="Google Shape;361;p33"/>
          <p:cNvSpPr txBox="1"/>
          <p:nvPr/>
        </p:nvSpPr>
        <p:spPr>
          <a:xfrm>
            <a:off x="5816037" y="4231744"/>
            <a:ext cx="78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i="1"/>
              <a:t>yes</a:t>
            </a:r>
            <a:endParaRPr i="1">
              <a:solidFill>
                <a:srgbClr val="000000"/>
              </a:solidFill>
            </a:endParaRPr>
          </a:p>
        </p:txBody>
      </p:sp>
      <p:cxnSp>
        <p:nvCxnSpPr>
          <p:cNvPr id="362" name="Google Shape;362;p33"/>
          <p:cNvCxnSpPr>
            <a:stCxn id="355" idx="0"/>
            <a:endCxn id="357" idx="2"/>
          </p:cNvCxnSpPr>
          <p:nvPr/>
        </p:nvCxnSpPr>
        <p:spPr>
          <a:xfrm rot="10800000" flipH="1">
            <a:off x="6771125" y="3564619"/>
            <a:ext cx="341700" cy="946200"/>
          </a:xfrm>
          <a:prstGeom prst="straightConnector1">
            <a:avLst/>
          </a:prstGeom>
          <a:noFill/>
          <a:ln w="9525" cap="flat" cmpd="sng">
            <a:solidFill>
              <a:schemeClr val="dk1"/>
            </a:solidFill>
            <a:prstDash val="solid"/>
            <a:round/>
            <a:headEnd type="none" w="med" len="med"/>
            <a:tailEnd type="triangle" w="med" len="med"/>
          </a:ln>
        </p:spPr>
      </p:cxnSp>
      <p:cxnSp>
        <p:nvCxnSpPr>
          <p:cNvPr id="363" name="Google Shape;363;p33"/>
          <p:cNvCxnSpPr>
            <a:stCxn id="355" idx="0"/>
            <a:endCxn id="356" idx="2"/>
          </p:cNvCxnSpPr>
          <p:nvPr/>
        </p:nvCxnSpPr>
        <p:spPr>
          <a:xfrm>
            <a:off x="6771125" y="4510819"/>
            <a:ext cx="341700" cy="117300"/>
          </a:xfrm>
          <a:prstGeom prst="straightConnector1">
            <a:avLst/>
          </a:prstGeom>
          <a:noFill/>
          <a:ln w="9525" cap="flat" cmpd="sng">
            <a:solidFill>
              <a:schemeClr val="dk1"/>
            </a:solidFill>
            <a:prstDash val="solid"/>
            <a:round/>
            <a:headEnd type="none" w="med" len="med"/>
            <a:tailEnd type="triangle" w="med" len="med"/>
          </a:ln>
        </p:spPr>
      </p:cxnSp>
      <p:sp>
        <p:nvSpPr>
          <p:cNvPr id="364" name="Google Shape;364;p33"/>
          <p:cNvSpPr/>
          <p:nvPr/>
        </p:nvSpPr>
        <p:spPr>
          <a:xfrm>
            <a:off x="5304494" y="4706500"/>
            <a:ext cx="1297500" cy="400200"/>
          </a:xfrm>
          <a:prstGeom prst="snip1Rect">
            <a:avLst>
              <a:gd name="adj" fmla="val 24059"/>
            </a:avLst>
          </a:prstGeom>
          <a:solidFill>
            <a:srgbClr val="FFF2CC"/>
          </a:solidFill>
          <a:ln w="9525" cap="flat" cmpd="sng">
            <a:solidFill>
              <a:srgbClr val="595959"/>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n" sz="1200"/>
              <a:t>sequential</a:t>
            </a:r>
            <a:endParaRPr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B23 Notes</a:t>
            </a:r>
            <a:endParaRPr/>
          </a:p>
        </p:txBody>
      </p:sp>
      <p:sp>
        <p:nvSpPr>
          <p:cNvPr id="370" name="Google Shape;370;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7" algn="l" rtl="0">
              <a:spcBef>
                <a:spcPts val="0"/>
              </a:spcBef>
              <a:spcAft>
                <a:spcPts val="0"/>
              </a:spcAft>
              <a:buClr>
                <a:schemeClr val="dk1"/>
              </a:buClr>
              <a:buSzPct val="100000"/>
              <a:buChar char="●"/>
            </a:pPr>
            <a:r>
              <a:rPr lang="en">
                <a:solidFill>
                  <a:schemeClr val="dk1"/>
                </a:solidFill>
              </a:rPr>
              <a:t>Sparkles: (1) the “Anchor content?” conditional check is something that Sneeds’s approach would NOT be able to detect; here, the requirement states: “... rendered in a manner that is in contrast with …”; (2) related to the above point/sparkle, explicitly modeling “Content Click Disabled” along the “no” branch is important; (3) the split after “click anchor element” that leads to one action and one conditional check; (4) the conditional check of “Anchor’s “href” = top of the “Forward” Stack?” is modeled after/inside a split; (5) the split after the “yes” of the second conditional check to do two things: not “AND”, but one AFTER the other, because if the top of the “Forward” stack is popped, then displaying the top would be another document; in another word, one has to display the top first, and then pop the top.</a:t>
            </a:r>
            <a:endParaRPr>
              <a:solidFill>
                <a:schemeClr val="dk1"/>
              </a:solidFill>
            </a:endParaRPr>
          </a:p>
          <a:p>
            <a:pPr marL="457200" lvl="0" indent="-334327" algn="l" rtl="0">
              <a:spcBef>
                <a:spcPts val="0"/>
              </a:spcBef>
              <a:spcAft>
                <a:spcPts val="0"/>
              </a:spcAft>
              <a:buClr>
                <a:schemeClr val="dk1"/>
              </a:buClr>
              <a:buSzPct val="100000"/>
              <a:buChar char="●"/>
            </a:pPr>
            <a:r>
              <a:rPr lang="en">
                <a:solidFill>
                  <a:schemeClr val="dk1"/>
                </a:solidFill>
              </a:rPr>
              <a:t>Logical test cases – please see next slide.</a:t>
            </a:r>
            <a:endParaRPr>
              <a:solidFill>
                <a:schemeClr val="dk1"/>
              </a:solidFill>
            </a:endParaRPr>
          </a:p>
          <a:p>
            <a:pPr marL="457200" lvl="0" indent="-334327" algn="l" rtl="0">
              <a:spcBef>
                <a:spcPts val="0"/>
              </a:spcBef>
              <a:spcAft>
                <a:spcPts val="0"/>
              </a:spcAft>
              <a:buClr>
                <a:schemeClr val="dk1"/>
              </a:buClr>
              <a:buSzPct val="100000"/>
              <a:buChar char="●"/>
            </a:pPr>
            <a:r>
              <a:rPr lang="en">
                <a:solidFill>
                  <a:schemeClr val="dk1"/>
                </a:solidFill>
              </a:rPr>
              <a:t>This requirement shows that using only keywords to define CONDITIONALS is limited.</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B23 Notes (Cont’d): </a:t>
            </a:r>
            <a:r>
              <a:rPr lang="en" b="1"/>
              <a:t>3</a:t>
            </a:r>
            <a:r>
              <a:rPr lang="en"/>
              <a:t> total logical test cases</a:t>
            </a:r>
            <a:endParaRPr/>
          </a:p>
        </p:txBody>
      </p:sp>
      <p:sp>
        <p:nvSpPr>
          <p:cNvPr id="376" name="Google Shape;376;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334327" algn="l" rtl="0">
              <a:spcBef>
                <a:spcPts val="0"/>
              </a:spcBef>
              <a:spcAft>
                <a:spcPts val="0"/>
              </a:spcAft>
              <a:buClr>
                <a:schemeClr val="dk1"/>
              </a:buClr>
              <a:buSzPct val="100000"/>
              <a:buAutoNum type="arabicPeriod"/>
            </a:pPr>
            <a:r>
              <a:rPr lang="en">
                <a:solidFill>
                  <a:schemeClr val="dk1"/>
                </a:solidFill>
              </a:rPr>
              <a:t>“Browser” → (render …) → Anchor context? → (no) → “Content Click Disabled”</a:t>
            </a:r>
            <a:endParaRPr>
              <a:solidFill>
                <a:schemeClr val="dk1"/>
              </a:solidFill>
            </a:endParaRPr>
          </a:p>
          <a:p>
            <a:pPr marL="457200" lvl="0" indent="-334327" algn="l" rtl="0">
              <a:spcBef>
                <a:spcPts val="0"/>
              </a:spcBef>
              <a:spcAft>
                <a:spcPts val="0"/>
              </a:spcAft>
              <a:buClr>
                <a:schemeClr val="dk1"/>
              </a:buClr>
              <a:buSzPct val="100000"/>
              <a:buAutoNum type="arabicPeriod"/>
            </a:pPr>
            <a:r>
              <a:rPr lang="en">
                <a:solidFill>
                  <a:schemeClr val="dk1"/>
                </a:solidFill>
              </a:rPr>
              <a:t>“Browser” → (render …) → Anchor context? → (yes) → “Content Click Enabled” → do “Pushing … “Back” Stack” and the second conditional check → (no) → “ “Forward” Stack Cleared”</a:t>
            </a:r>
            <a:endParaRPr>
              <a:solidFill>
                <a:schemeClr val="dk1"/>
              </a:solidFill>
            </a:endParaRPr>
          </a:p>
          <a:p>
            <a:pPr marL="457200" lvl="0" indent="-334327" algn="l" rtl="0">
              <a:spcBef>
                <a:spcPts val="0"/>
              </a:spcBef>
              <a:spcAft>
                <a:spcPts val="0"/>
              </a:spcAft>
              <a:buClr>
                <a:schemeClr val="dk1"/>
              </a:buClr>
              <a:buSzPct val="100000"/>
              <a:buAutoNum type="arabicPeriod"/>
            </a:pPr>
            <a:r>
              <a:rPr lang="en">
                <a:solidFill>
                  <a:schemeClr val="dk1"/>
                </a:solidFill>
              </a:rPr>
              <a:t>“Browser” → (render …) → Anchor context? → (yes) → “Content Click Enabled” → do “Pushing … “Back” Stack” and the second conditional check → (yes) → sequentially, do two things/actions, “Displaying top …” first, and then “Pop top …”</a:t>
            </a:r>
            <a:endParaRPr>
              <a:solidFill>
                <a:schemeClr val="dk1"/>
              </a:solidFill>
            </a:endParaRPr>
          </a:p>
          <a:p>
            <a:pPr marL="0" lvl="0" indent="0" algn="l" rtl="0">
              <a:spcBef>
                <a:spcPts val="1200"/>
              </a:spcBef>
              <a:spcAft>
                <a:spcPts val="1200"/>
              </a:spcAft>
              <a:buNone/>
            </a:pPr>
            <a:r>
              <a:rPr lang="en">
                <a:solidFill>
                  <a:schemeClr val="dk1"/>
                </a:solidFill>
              </a:rPr>
              <a:t>Although the total number of logical test cases here is 3, one could enrich it by testing the “reverse” ordering to make sure that the negative outcome would NOT occur</a:t>
            </a:r>
            <a:endParaRPr>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3260</Words>
  <Application>Microsoft Office PowerPoint</Application>
  <PresentationFormat>On-screen Show (16:9)</PresentationFormat>
  <Paragraphs>170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Comic Sans MS</vt:lpstr>
      <vt:lpstr>Simple Light</vt:lpstr>
      <vt:lpstr>PowerPoint Presentation</vt:lpstr>
      <vt:lpstr>B2 Notes</vt:lpstr>
      <vt:lpstr>PowerPoint Presentation</vt:lpstr>
      <vt:lpstr>B5 Notes</vt:lpstr>
      <vt:lpstr>PowerPoint Presentation</vt:lpstr>
      <vt:lpstr>B7 Notes</vt:lpstr>
      <vt:lpstr>PowerPoint Presentation</vt:lpstr>
      <vt:lpstr>B11 Notes</vt:lpstr>
      <vt:lpstr>PowerPoint Presentation</vt:lpstr>
      <vt:lpstr>B12 Notes</vt:lpstr>
      <vt:lpstr>PowerPoint Presentation</vt:lpstr>
      <vt:lpstr>B15 Notes</vt:lpstr>
      <vt:lpstr>PowerPoint Presentation</vt:lpstr>
      <vt:lpstr>B16 Notes</vt:lpstr>
      <vt:lpstr>B16 Notes (Cont’d)</vt:lpstr>
      <vt:lpstr>PowerPoint Presentation</vt:lpstr>
      <vt:lpstr>B19 Notes</vt:lpstr>
      <vt:lpstr>PowerPoint Presentation</vt:lpstr>
      <vt:lpstr>B20 Notes</vt:lpstr>
      <vt:lpstr>B20 Notes (Cont’d): 6 total logical test cases</vt:lpstr>
      <vt:lpstr>PowerPoint Presentation</vt:lpstr>
      <vt:lpstr>B23 Notes</vt:lpstr>
      <vt:lpstr>B23 Notes (Cont’d): 3 total logical test cases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Niu, Nan</cp:lastModifiedBy>
  <cp:revision>1</cp:revision>
  <dcterms:modified xsi:type="dcterms:W3CDTF">2026-02-07T22:40:15Z</dcterms:modified>
</cp:coreProperties>
</file>